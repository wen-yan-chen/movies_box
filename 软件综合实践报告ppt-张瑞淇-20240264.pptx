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7" r:id="rId4"/>
    <p:sldId id="332" r:id="rId6"/>
    <p:sldId id="313" r:id="rId7"/>
    <p:sldId id="265" r:id="rId8"/>
    <p:sldId id="315" r:id="rId9"/>
    <p:sldId id="316" r:id="rId10"/>
    <p:sldId id="317" r:id="rId11"/>
    <p:sldId id="318" r:id="rId12"/>
    <p:sldId id="319" r:id="rId13"/>
    <p:sldId id="320" r:id="rId14"/>
    <p:sldId id="275" r:id="rId15"/>
    <p:sldId id="312" r:id="rId16"/>
    <p:sldId id="334" r:id="rId17"/>
    <p:sldId id="335" r:id="rId18"/>
    <p:sldId id="336" r:id="rId19"/>
    <p:sldId id="337" r:id="rId20"/>
    <p:sldId id="268" r:id="rId21"/>
    <p:sldId id="333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思蜀" initials="刘思蜀" lastIdx="1" clrIdx="0"/>
  <p:cmAuthor id="2" name="作者" initials="A" lastIdx="0" clrIdx="1"/>
  <p:cmAuthor id="3" name="红狼" initials="红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AA4E6"/>
    <a:srgbClr val="9188E6"/>
    <a:srgbClr val="92AAE6"/>
    <a:srgbClr val="8BA4E6"/>
    <a:srgbClr val="8DA6E6"/>
    <a:srgbClr val="6889DF"/>
    <a:srgbClr val="767676"/>
    <a:srgbClr val="FCFAE3"/>
    <a:srgbClr val="DF48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330" autoAdjust="0"/>
  </p:normalViewPr>
  <p:slideViewPr>
    <p:cSldViewPr showGuides="1">
      <p:cViewPr varScale="1">
        <p:scale>
          <a:sx n="91" d="100"/>
          <a:sy n="91" d="100"/>
        </p:scale>
        <p:origin x="1314" y="9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21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解决方案</a:t>
            </a:r>
            <a:r>
              <a:rPr lang="en-US" altLang="zh-CN" dirty="0"/>
              <a:t>1</a:t>
            </a:r>
            <a:r>
              <a:rPr lang="zh-CN" altLang="en-US" dirty="0"/>
              <a:t>：基于统计规则和分组降维的涉诈评估体系</a:t>
            </a:r>
            <a:endParaRPr lang="en-US" altLang="zh-CN" dirty="0"/>
          </a:p>
          <a:p>
            <a:r>
              <a:rPr lang="zh-CN" altLang="en-US" dirty="0"/>
              <a:t>解决方案</a:t>
            </a:r>
            <a:r>
              <a:rPr lang="en-US" altLang="zh-CN" dirty="0"/>
              <a:t>2</a:t>
            </a:r>
            <a:r>
              <a:rPr lang="zh-CN" altLang="en-US" dirty="0"/>
              <a:t>：基于</a:t>
            </a:r>
            <a:r>
              <a:rPr lang="en-US" altLang="zh-CN" dirty="0"/>
              <a:t>LLM</a:t>
            </a:r>
            <a:r>
              <a:rPr lang="zh-CN" altLang="en-US" dirty="0"/>
              <a:t>和数据可视化的可解释知识研究</a:t>
            </a:r>
            <a:endParaRPr lang="en-US" altLang="zh-CN" dirty="0"/>
          </a:p>
          <a:p>
            <a:r>
              <a:rPr lang="zh-CN" altLang="en-US" dirty="0"/>
              <a:t>解决方案</a:t>
            </a:r>
            <a:r>
              <a:rPr lang="en-US" altLang="zh-CN" dirty="0"/>
              <a:t>3</a:t>
            </a:r>
            <a:r>
              <a:rPr lang="zh-CN" altLang="en-US" dirty="0"/>
              <a:t>：涉诈数据动态检测与自迭代更新系统研发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6362E-68BA-4416-8074-07DB16C4D86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285750"/>
            <a:ext cx="12172950" cy="6286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285750"/>
            <a:ext cx="12172950" cy="6286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7" Type="http://schemas.openxmlformats.org/officeDocument/2006/relationships/slideLayout" Target="../slideLayouts/slideLayout12.xml"/><Relationship Id="rId26" Type="http://schemas.openxmlformats.org/officeDocument/2006/relationships/tags" Target="../tags/tag30.xml"/><Relationship Id="rId25" Type="http://schemas.openxmlformats.org/officeDocument/2006/relationships/tags" Target="../tags/tag29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tags" Target="../tags/tag3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38.xml"/><Relationship Id="rId19" Type="http://schemas.openxmlformats.org/officeDocument/2006/relationships/slideLayout" Target="../slideLayouts/slideLayout14.xml"/><Relationship Id="rId18" Type="http://schemas.openxmlformats.org/officeDocument/2006/relationships/image" Target="../media/image16.png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4.xml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tags" Target="../tags/tag55.xml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0" Type="http://schemas.openxmlformats.org/officeDocument/2006/relationships/notesSlide" Target="../notesSlides/notesSlide6.xml"/><Relationship Id="rId2" Type="http://schemas.openxmlformats.org/officeDocument/2006/relationships/tags" Target="../tags/tag72.xml"/><Relationship Id="rId19" Type="http://schemas.openxmlformats.org/officeDocument/2006/relationships/slideLayout" Target="../slideLayouts/slideLayout14.xml"/><Relationship Id="rId18" Type="http://schemas.openxmlformats.org/officeDocument/2006/relationships/image" Target="../media/image21.png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89.xml"/><Relationship Id="rId19" Type="http://schemas.openxmlformats.org/officeDocument/2006/relationships/slideLayout" Target="../slideLayouts/slideLayout14.xml"/><Relationship Id="rId18" Type="http://schemas.openxmlformats.org/officeDocument/2006/relationships/image" Target="../media/image22.png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106.xml"/><Relationship Id="rId19" Type="http://schemas.openxmlformats.org/officeDocument/2006/relationships/slideLayout" Target="../slideLayouts/slideLayout14.xml"/><Relationship Id="rId18" Type="http://schemas.openxmlformats.org/officeDocument/2006/relationships/image" Target="../media/image23.png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0" Type="http://schemas.openxmlformats.org/officeDocument/2006/relationships/notesSlide" Target="../notesSlides/notesSlide9.xml"/><Relationship Id="rId2" Type="http://schemas.openxmlformats.org/officeDocument/2006/relationships/tags" Target="../tags/tag123.xml"/><Relationship Id="rId19" Type="http://schemas.openxmlformats.org/officeDocument/2006/relationships/slideLayout" Target="../slideLayouts/slideLayout14.xml"/><Relationship Id="rId18" Type="http://schemas.openxmlformats.org/officeDocument/2006/relationships/image" Target="../media/image24.png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140.xml"/><Relationship Id="rId19" Type="http://schemas.openxmlformats.org/officeDocument/2006/relationships/slideLayout" Target="../slideLayouts/slideLayout14.xml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image" Target="../media/image30.svg"/><Relationship Id="rId15" Type="http://schemas.openxmlformats.org/officeDocument/2006/relationships/image" Target="../media/image29.png"/><Relationship Id="rId14" Type="http://schemas.openxmlformats.org/officeDocument/2006/relationships/tags" Target="../tags/tag148.xml"/><Relationship Id="rId13" Type="http://schemas.openxmlformats.org/officeDocument/2006/relationships/tags" Target="../tags/tag147.xml"/><Relationship Id="rId12" Type="http://schemas.openxmlformats.org/officeDocument/2006/relationships/tags" Target="../tags/tag146.xml"/><Relationship Id="rId11" Type="http://schemas.openxmlformats.org/officeDocument/2006/relationships/image" Target="../media/image28.svg"/><Relationship Id="rId10" Type="http://schemas.openxmlformats.org/officeDocument/2006/relationships/image" Target="../media/image27.png"/><Relationship Id="rId1" Type="http://schemas.openxmlformats.org/officeDocument/2006/relationships/tags" Target="../tags/tag13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4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31.png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tags" Target="../tags/tag17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34.png"/><Relationship Id="rId13" Type="http://schemas.openxmlformats.org/officeDocument/2006/relationships/tags" Target="../tags/tag196.xml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tags" Target="../tags/tag18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5.png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0" Type="http://schemas.openxmlformats.org/officeDocument/2006/relationships/notesSlide" Target="../notesSlides/notesSlide16.xml"/><Relationship Id="rId2" Type="http://schemas.openxmlformats.org/officeDocument/2006/relationships/tags" Target="../tags/tag204.xml"/><Relationship Id="rId19" Type="http://schemas.openxmlformats.org/officeDocument/2006/relationships/slideLayout" Target="../slideLayouts/slideLayout14.xml"/><Relationship Id="rId18" Type="http://schemas.openxmlformats.org/officeDocument/2006/relationships/image" Target="../media/image47.svg"/><Relationship Id="rId17" Type="http://schemas.openxmlformats.org/officeDocument/2006/relationships/image" Target="../media/image46.png"/><Relationship Id="rId16" Type="http://schemas.openxmlformats.org/officeDocument/2006/relationships/image" Target="../media/image45.svg"/><Relationship Id="rId15" Type="http://schemas.openxmlformats.org/officeDocument/2006/relationships/image" Target="../media/image44.png"/><Relationship Id="rId14" Type="http://schemas.openxmlformats.org/officeDocument/2006/relationships/image" Target="../media/image43.svg"/><Relationship Id="rId13" Type="http://schemas.openxmlformats.org/officeDocument/2006/relationships/image" Target="../media/image42.png"/><Relationship Id="rId12" Type="http://schemas.openxmlformats.org/officeDocument/2006/relationships/image" Target="../media/image41.svg"/><Relationship Id="rId11" Type="http://schemas.openxmlformats.org/officeDocument/2006/relationships/image" Target="../media/image40.png"/><Relationship Id="rId10" Type="http://schemas.openxmlformats.org/officeDocument/2006/relationships/image" Target="../media/image39.svg"/><Relationship Id="rId1" Type="http://schemas.openxmlformats.org/officeDocument/2006/relationships/tags" Target="../tags/tag203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tags" Target="../tags/tag2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https://kimi-img.moonshot.cn/pub/slides/slides_tmpl/image/25-09-05-13:17:36-d2t74s5nfo2stf9digr0.png"/>
          <p:cNvPicPr>
            <a:picLocks noChangeAspect="1"/>
          </p:cNvPicPr>
          <p:nvPr/>
        </p:nvPicPr>
        <p:blipFill>
          <a:blip r:embed="rId1"/>
          <a:srcRect l="10" r="10"/>
          <a:stretch>
            <a:fillRect/>
          </a:stretch>
        </p:blipFill>
        <p:spPr>
          <a:xfrm>
            <a:off x="1200" y="0"/>
            <a:ext cx="12189600" cy="6865200"/>
          </a:xfrm>
          <a:prstGeom prst="rect">
            <a:avLst/>
          </a:prstGeom>
        </p:spPr>
      </p:pic>
      <p:sp>
        <p:nvSpPr>
          <p:cNvPr id="81" name="矩形 80"/>
          <p:cNvSpPr/>
          <p:nvPr>
            <p:custDataLst>
              <p:tags r:id="rId2"/>
            </p:custDataLst>
          </p:nvPr>
        </p:nvSpPr>
        <p:spPr>
          <a:xfrm>
            <a:off x="582930" y="5571490"/>
            <a:ext cx="685800" cy="224155"/>
          </a:xfrm>
          <a:prstGeom prst="rect">
            <a:avLst/>
          </a:prstGeom>
          <a:gradFill>
            <a:gsLst>
              <a:gs pos="0">
                <a:srgbClr val="DEE6FF"/>
              </a:gs>
              <a:gs pos="100000">
                <a:srgbClr val="FCFAE3">
                  <a:alpha val="31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575" y="5789295"/>
            <a:ext cx="6067425" cy="609600"/>
          </a:xfrm>
          <a:prstGeom prst="rect">
            <a:avLst/>
          </a:prstGeom>
        </p:spPr>
      </p:pic>
      <p:pic>
        <p:nvPicPr>
          <p:cNvPr id="3" name="图片 2" descr="D:/CQU/大二下/小学期实训/图集/e823d879fcdb817770e80be17aa2cfee.pnge823d879fcdb817770e80be17aa2cfee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-1046" t="1501" r="149"/>
          <a:stretch>
            <a:fillRect/>
          </a:stretch>
        </p:blipFill>
        <p:spPr>
          <a:xfrm>
            <a:off x="5015865" y="1917065"/>
            <a:ext cx="5939790" cy="3265805"/>
          </a:xfrm>
          <a:prstGeom prst="rect">
            <a:avLst/>
          </a:prstGeom>
          <a:effectLst>
            <a:outerShdw blurRad="127000" dist="38100" dir="2700000" sx="101000" sy="101000" algn="tl" rotWithShape="0">
              <a:srgbClr val="1D3B89">
                <a:alpha val="18000"/>
              </a:srgbClr>
            </a:outerShdw>
          </a:effectLst>
          <a:scene3d>
            <a:camera prst="perspectiveHeroicExtremeLeftFacing"/>
            <a:lightRig rig="threePt" dir="t"/>
          </a:scene3d>
        </p:spPr>
      </p:pic>
      <p:sp>
        <p:nvSpPr>
          <p:cNvPr id="67" name="文本框 66"/>
          <p:cNvSpPr txBox="1"/>
          <p:nvPr/>
        </p:nvSpPr>
        <p:spPr>
          <a:xfrm>
            <a:off x="479425" y="692785"/>
            <a:ext cx="46983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zh-CN" sz="5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ovies-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5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ox</a:t>
            </a:r>
            <a:endParaRPr lang="en-US" altLang="zh-CN" sz="5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6"/>
            </p:custDataLst>
          </p:nvPr>
        </p:nvSpPr>
        <p:spPr>
          <a:xfrm>
            <a:off x="623570" y="1772920"/>
            <a:ext cx="51111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电影票房数据可视化系统</a:t>
            </a:r>
            <a:endParaRPr lang="zh-CN" altLang="en-US" sz="2800" b="1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485775" y="5799455"/>
            <a:ext cx="507746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600" dirty="0">
              <a:solidFill>
                <a:srgbClr val="1D3B89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227647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张瑞淇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-20240264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479425" y="476250"/>
            <a:ext cx="526415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69595" y="414655"/>
            <a:ext cx="2671445" cy="713740"/>
            <a:chOff x="350" y="332"/>
            <a:chExt cx="4207" cy="1124"/>
          </a:xfrm>
        </p:grpSpPr>
        <p:sp>
          <p:nvSpPr>
            <p:cNvPr id="37" name="矩形 36"/>
            <p:cNvSpPr/>
            <p:nvPr/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8" name="FLYING IMPRESSION FID FEIZHAO    qq:1964271550"/>
            <p:cNvSpPr txBox="1"/>
            <p:nvPr/>
          </p:nvSpPr>
          <p:spPr>
            <a:xfrm>
              <a:off x="504" y="332"/>
              <a:ext cx="4053" cy="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目录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9" name="FLYING IMPRESSION FID FEIZHAO    qq:1964271550"/>
            <p:cNvSpPr txBox="1"/>
            <p:nvPr/>
          </p:nvSpPr>
          <p:spPr>
            <a:xfrm>
              <a:off x="543" y="1061"/>
              <a:ext cx="3915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Catalogue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7" name="矩形 56"/>
          <p:cNvSpPr/>
          <p:nvPr>
            <p:custDataLst>
              <p:tags r:id="rId2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054100" y="1973580"/>
            <a:ext cx="574675" cy="720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400" b="1">
                <a:solidFill>
                  <a:srgbClr val="6889D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5400" b="1">
              <a:solidFill>
                <a:srgbClr val="6889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845310" y="2059940"/>
            <a:ext cx="87630" cy="66040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FLYING IMPRESSION FID FEIZHAO    qq:1964271550"/>
          <p:cNvSpPr txBox="1"/>
          <p:nvPr>
            <p:custDataLst>
              <p:tags r:id="rId5"/>
            </p:custDataLst>
          </p:nvPr>
        </p:nvSpPr>
        <p:spPr>
          <a:xfrm>
            <a:off x="1920240" y="1843405"/>
            <a:ext cx="257365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项目背景</a:t>
            </a:r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" name="FLYING IMPRESSION FID FEIZHAO    qq:1964271550"/>
          <p:cNvSpPr txBox="1"/>
          <p:nvPr>
            <p:custDataLst>
              <p:tags r:id="rId6"/>
            </p:custDataLst>
          </p:nvPr>
        </p:nvSpPr>
        <p:spPr>
          <a:xfrm>
            <a:off x="1991360" y="2493010"/>
            <a:ext cx="248602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Background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7"/>
            </p:custDataLst>
          </p:nvPr>
        </p:nvSpPr>
        <p:spPr>
          <a:xfrm>
            <a:off x="2061210" y="3175000"/>
            <a:ext cx="574675" cy="720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400" b="1">
                <a:solidFill>
                  <a:srgbClr val="6889D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5400" b="1">
              <a:solidFill>
                <a:srgbClr val="6889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>
            <p:custDataLst>
              <p:tags r:id="rId8"/>
            </p:custDataLst>
          </p:nvPr>
        </p:nvSpPr>
        <p:spPr>
          <a:xfrm>
            <a:off x="2852420" y="3261360"/>
            <a:ext cx="87630" cy="66040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6" name="FLYING IMPRESSION FID FEIZHAO    qq:1964271550"/>
          <p:cNvSpPr txBox="1"/>
          <p:nvPr>
            <p:custDataLst>
              <p:tags r:id="rId9"/>
            </p:custDataLst>
          </p:nvPr>
        </p:nvSpPr>
        <p:spPr>
          <a:xfrm>
            <a:off x="2927350" y="3044825"/>
            <a:ext cx="257365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功能</a:t>
            </a: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总览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1" name="FLYING IMPRESSION FID FEIZHAO    qq:1964271550"/>
          <p:cNvSpPr txBox="1"/>
          <p:nvPr>
            <p:custDataLst>
              <p:tags r:id="rId10"/>
            </p:custDataLst>
          </p:nvPr>
        </p:nvSpPr>
        <p:spPr>
          <a:xfrm>
            <a:off x="2998470" y="3694430"/>
            <a:ext cx="248602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Pain Point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99105" y="4547235"/>
            <a:ext cx="574675" cy="720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400" b="1">
                <a:solidFill>
                  <a:srgbClr val="6889D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5400" b="1">
              <a:solidFill>
                <a:srgbClr val="6889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>
            <p:custDataLst>
              <p:tags r:id="rId12"/>
            </p:custDataLst>
          </p:nvPr>
        </p:nvSpPr>
        <p:spPr>
          <a:xfrm>
            <a:off x="3790315" y="4633595"/>
            <a:ext cx="87630" cy="66040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4" name="FLYING IMPRESSION FID FEIZHAO    qq:1964271550"/>
          <p:cNvSpPr txBox="1"/>
          <p:nvPr>
            <p:custDataLst>
              <p:tags r:id="rId13"/>
            </p:custDataLst>
          </p:nvPr>
        </p:nvSpPr>
        <p:spPr>
          <a:xfrm>
            <a:off x="3865245" y="4417060"/>
            <a:ext cx="257365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界面讲解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5" name="FLYING IMPRESSION FID FEIZHAO    qq:1964271550"/>
          <p:cNvSpPr txBox="1"/>
          <p:nvPr>
            <p:custDataLst>
              <p:tags r:id="rId14"/>
            </p:custDataLst>
          </p:nvPr>
        </p:nvSpPr>
        <p:spPr>
          <a:xfrm>
            <a:off x="3936365" y="5066665"/>
            <a:ext cx="248602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Solution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15"/>
            </p:custDataLst>
          </p:nvPr>
        </p:nvSpPr>
        <p:spPr>
          <a:xfrm>
            <a:off x="5880735" y="1995805"/>
            <a:ext cx="574675" cy="720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400" b="1">
                <a:solidFill>
                  <a:srgbClr val="6889D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5400" b="1">
              <a:solidFill>
                <a:srgbClr val="6889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>
            <p:custDataLst>
              <p:tags r:id="rId16"/>
            </p:custDataLst>
          </p:nvPr>
        </p:nvSpPr>
        <p:spPr>
          <a:xfrm>
            <a:off x="6815455" y="2082165"/>
            <a:ext cx="87630" cy="66040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8" name="FLYING IMPRESSION FID FEIZHAO    qq:1964271550"/>
          <p:cNvSpPr txBox="1"/>
          <p:nvPr>
            <p:custDataLst>
              <p:tags r:id="rId17"/>
            </p:custDataLst>
          </p:nvPr>
        </p:nvSpPr>
        <p:spPr>
          <a:xfrm>
            <a:off x="6890385" y="1865630"/>
            <a:ext cx="257365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技术</a:t>
            </a: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创新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9" name="FLYING IMPRESSION FID FEIZHAO    qq:1964271550"/>
          <p:cNvSpPr txBox="1"/>
          <p:nvPr>
            <p:custDataLst>
              <p:tags r:id="rId18"/>
            </p:custDataLst>
          </p:nvPr>
        </p:nvSpPr>
        <p:spPr>
          <a:xfrm>
            <a:off x="6961505" y="2515235"/>
            <a:ext cx="248602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Highlights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19"/>
            </p:custDataLst>
          </p:nvPr>
        </p:nvSpPr>
        <p:spPr>
          <a:xfrm>
            <a:off x="7031355" y="3197225"/>
            <a:ext cx="574675" cy="720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400" b="1">
                <a:solidFill>
                  <a:srgbClr val="6889D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5400" b="1">
              <a:solidFill>
                <a:srgbClr val="6889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>
            <p:custDataLst>
              <p:tags r:id="rId20"/>
            </p:custDataLst>
          </p:nvPr>
        </p:nvSpPr>
        <p:spPr>
          <a:xfrm>
            <a:off x="7822565" y="3283585"/>
            <a:ext cx="87630" cy="66040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2" name="FLYING IMPRESSION FID FEIZHAO    qq:1964271550"/>
          <p:cNvSpPr txBox="1"/>
          <p:nvPr>
            <p:custDataLst>
              <p:tags r:id="rId21"/>
            </p:custDataLst>
          </p:nvPr>
        </p:nvSpPr>
        <p:spPr>
          <a:xfrm>
            <a:off x="7897495" y="3067050"/>
            <a:ext cx="257365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AI</a:t>
            </a: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协作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3" name="FLYING IMPRESSION FID FEIZHAO    qq:1964271550"/>
          <p:cNvSpPr txBox="1"/>
          <p:nvPr>
            <p:custDataLst>
              <p:tags r:id="rId22"/>
            </p:custDataLst>
          </p:nvPr>
        </p:nvSpPr>
        <p:spPr>
          <a:xfrm>
            <a:off x="7968615" y="3716655"/>
            <a:ext cx="248602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Value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4" name="文本框 53"/>
          <p:cNvSpPr txBox="1"/>
          <p:nvPr>
            <p:custDataLst>
              <p:tags r:id="rId23"/>
            </p:custDataLst>
          </p:nvPr>
        </p:nvSpPr>
        <p:spPr>
          <a:xfrm>
            <a:off x="7969250" y="4569460"/>
            <a:ext cx="574675" cy="720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400" b="1">
                <a:solidFill>
                  <a:srgbClr val="6889D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5400" b="1">
              <a:solidFill>
                <a:srgbClr val="6889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>
            <p:custDataLst>
              <p:tags r:id="rId24"/>
            </p:custDataLst>
          </p:nvPr>
        </p:nvSpPr>
        <p:spPr>
          <a:xfrm>
            <a:off x="8760460" y="4655820"/>
            <a:ext cx="87630" cy="66040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6" name="FLYING IMPRESSION FID FEIZHAO    qq:1964271550"/>
          <p:cNvSpPr txBox="1"/>
          <p:nvPr>
            <p:custDataLst>
              <p:tags r:id="rId25"/>
            </p:custDataLst>
          </p:nvPr>
        </p:nvSpPr>
        <p:spPr>
          <a:xfrm>
            <a:off x="8835390" y="4439285"/>
            <a:ext cx="257365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总结</a:t>
            </a: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展望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9" name="FLYING IMPRESSION FID FEIZHAO    qq:1964271550"/>
          <p:cNvSpPr txBox="1"/>
          <p:nvPr>
            <p:custDataLst>
              <p:tags r:id="rId26"/>
            </p:custDataLst>
          </p:nvPr>
        </p:nvSpPr>
        <p:spPr>
          <a:xfrm>
            <a:off x="8906510" y="5088890"/>
            <a:ext cx="248602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Teamwork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6167755" y="1320800"/>
            <a:ext cx="5612130" cy="236537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99110" y="1341120"/>
            <a:ext cx="5553710" cy="234505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/>
          <p:cNvSpPr/>
          <p:nvPr>
            <p:custDataLst>
              <p:tags r:id="rId1"/>
            </p:custDataLst>
          </p:nvPr>
        </p:nvSpPr>
        <p:spPr>
          <a:xfrm>
            <a:off x="479425" y="476250"/>
            <a:ext cx="526415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69595" y="414655"/>
            <a:ext cx="2671445" cy="699770"/>
            <a:chOff x="350" y="332"/>
            <a:chExt cx="4207" cy="1102"/>
          </a:xfrm>
        </p:grpSpPr>
        <p:sp>
          <p:nvSpPr>
            <p:cNvPr id="37" name="矩形 36"/>
            <p:cNvSpPr/>
            <p:nvPr/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8" name="FLYING IMPRESSION FID FEIZHAO    qq:1964271550"/>
            <p:cNvSpPr txBox="1"/>
            <p:nvPr/>
          </p:nvSpPr>
          <p:spPr>
            <a:xfrm>
              <a:off x="504" y="332"/>
              <a:ext cx="4053" cy="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项目背景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9" name="FLYING IMPRESSION FID FEIZHAO    qq:1964271550"/>
            <p:cNvSpPr txBox="1"/>
            <p:nvPr/>
          </p:nvSpPr>
          <p:spPr>
            <a:xfrm>
              <a:off x="543" y="1061"/>
              <a:ext cx="3915" cy="3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Background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7" name="矩形 56"/>
          <p:cNvSpPr/>
          <p:nvPr>
            <p:custDataLst>
              <p:tags r:id="rId2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AutoShape 5"/>
          <p:cNvSpPr/>
          <p:nvPr/>
        </p:nvSpPr>
        <p:spPr>
          <a:xfrm>
            <a:off x="1016000" y="177292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DA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痛点：数据孤岛与高门槛</a:t>
            </a:r>
            <a:endParaRPr lang="en-US" sz="1800" b="1" i="0" u="none" strike="noStrike">
              <a:solidFill>
                <a:srgbClr val="8DA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71420"/>
            <a:ext cx="304800" cy="304800"/>
          </a:xfrm>
          <a:prstGeom prst="rect">
            <a:avLst/>
          </a:prstGeom>
        </p:spPr>
      </p:pic>
      <p:sp>
        <p:nvSpPr>
          <p:cNvPr id="23" name="AutoShape 7"/>
          <p:cNvSpPr/>
          <p:nvPr/>
        </p:nvSpPr>
        <p:spPr>
          <a:xfrm>
            <a:off x="1460500" y="243332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数据割裂，视图分散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TMDB全球影视库与猫眼中国票房数据相互独立，缺乏统一分析口径，无法形成对市场的全域、连贯认知。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8"/>
          <p:cNvCxnSpPr/>
          <p:nvPr/>
        </p:nvCxnSpPr>
        <p:spPr>
          <a:xfrm rot="-9822">
            <a:off x="1016009" y="354457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8B2A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5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04920"/>
            <a:ext cx="304800" cy="304800"/>
          </a:xfrm>
          <a:prstGeom prst="rect">
            <a:avLst/>
          </a:prstGeom>
        </p:spPr>
      </p:pic>
      <p:sp>
        <p:nvSpPr>
          <p:cNvPr id="29" name="AutoShape 10"/>
          <p:cNvSpPr/>
          <p:nvPr/>
        </p:nvSpPr>
        <p:spPr>
          <a:xfrm>
            <a:off x="1460500" y="376682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工具复杂，门槛高企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传统BI工具操作繁琐，依赖SQL或专业技能，业务人员难以自主进行灵活的即席分析，响应决策滞后。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12"/>
          <p:cNvSpPr/>
          <p:nvPr/>
        </p:nvSpPr>
        <p:spPr>
          <a:xfrm>
            <a:off x="6667500" y="170053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DA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目标：构建“对话即分析”的智能平台</a:t>
            </a:r>
            <a:endParaRPr lang="en-US" sz="1800" b="1" i="0" u="none" strike="noStrike">
              <a:solidFill>
                <a:srgbClr val="8DA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2399030"/>
            <a:ext cx="304800" cy="304800"/>
          </a:xfrm>
          <a:prstGeom prst="rect">
            <a:avLst/>
          </a:prstGeom>
        </p:spPr>
      </p:pic>
      <p:sp>
        <p:nvSpPr>
          <p:cNvPr id="36" name="AutoShape 14"/>
          <p:cNvSpPr/>
          <p:nvPr/>
        </p:nvSpPr>
        <p:spPr>
          <a:xfrm>
            <a:off x="7112000" y="236093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范式重构：从“人找数”到“数找人”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利用自然语言交互打破技术壁垒，让业务人员通过日常对话即可获取深度数据洞察。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1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3224530"/>
            <a:ext cx="304800" cy="304800"/>
          </a:xfrm>
          <a:prstGeom prst="rect">
            <a:avLst/>
          </a:prstGeom>
        </p:spPr>
      </p:pic>
      <p:sp>
        <p:nvSpPr>
          <p:cNvPr id="42" name="AutoShape 16"/>
          <p:cNvSpPr/>
          <p:nvPr/>
        </p:nvSpPr>
        <p:spPr>
          <a:xfrm>
            <a:off x="7112000" y="318643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全维汇聚：万级数据资产沉淀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整合10,294条电影记录，覆盖2002-2026年票房、评分、主创、类型等全维度数据。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3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4050030"/>
            <a:ext cx="304800" cy="304800"/>
          </a:xfrm>
          <a:prstGeom prst="rect">
            <a:avLst/>
          </a:prstGeom>
        </p:spPr>
      </p:pic>
      <p:sp>
        <p:nvSpPr>
          <p:cNvPr id="44" name="AutoShape 18"/>
          <p:cNvSpPr/>
          <p:nvPr/>
        </p:nvSpPr>
        <p:spPr>
          <a:xfrm>
            <a:off x="7112000" y="401193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智能驱动：Agent与可视化深度融合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基于大语言模型Agent，自动理解用户意图并生成可视化图表，实现“所想即所得”。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6" name="AutoShape 19"/>
          <p:cNvSpPr/>
          <p:nvPr/>
        </p:nvSpPr>
        <p:spPr>
          <a:xfrm>
            <a:off x="1016000" y="5510530"/>
            <a:ext cx="10160000" cy="558800"/>
          </a:xfrm>
          <a:prstGeom prst="roundRect">
            <a:avLst>
              <a:gd name="adj" fmla="val 0"/>
            </a:avLst>
          </a:prstGeom>
          <a:solidFill>
            <a:srgbClr val="38B2AC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20"/>
          <p:cNvSpPr/>
          <p:nvPr/>
        </p:nvSpPr>
        <p:spPr>
          <a:xfrm>
            <a:off x="1143000" y="563753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bg2">
                    <a:lumMod val="50000"/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打破数据壁垒与技术门槛，让数据成为人人可用的决策利器，驱动影视行业的智能化发展。</a:t>
            </a:r>
            <a:endParaRPr lang="en-US" sz="1400" b="0" i="0" u="none" strike="noStrike">
              <a:solidFill>
                <a:schemeClr val="bg2">
                  <a:lumMod val="50000"/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>
            <p:custDataLst>
              <p:tags r:id="rId1"/>
            </p:custDataLst>
          </p:nvPr>
        </p:nvSpPr>
        <p:spPr>
          <a:xfrm>
            <a:off x="479425" y="476250"/>
            <a:ext cx="349758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569595" y="414655"/>
            <a:ext cx="2671445" cy="1050290"/>
            <a:chOff x="350" y="332"/>
            <a:chExt cx="4207" cy="1654"/>
          </a:xfrm>
        </p:grpSpPr>
        <p:sp>
          <p:nvSpPr>
            <p:cNvPr id="37" name="矩形 36"/>
            <p:cNvSpPr/>
            <p:nvPr/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8" name="FLYING IMPRESSION FID FEIZHAO    qq:1964271550"/>
            <p:cNvSpPr txBox="1"/>
            <p:nvPr/>
          </p:nvSpPr>
          <p:spPr>
            <a:xfrm>
              <a:off x="504" y="332"/>
              <a:ext cx="4053" cy="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功能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总览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l">
                <a:lnSpc>
                  <a:spcPct val="130000"/>
                </a:lnSpc>
              </a:pP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9" name="FLYING IMPRESSION FID FEIZHAO    qq:1964271550"/>
            <p:cNvSpPr txBox="1"/>
            <p:nvPr/>
          </p:nvSpPr>
          <p:spPr>
            <a:xfrm>
              <a:off x="543" y="1061"/>
              <a:ext cx="3915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Overview of Function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7" name="矩形 56"/>
          <p:cNvSpPr/>
          <p:nvPr>
            <p:custDataLst>
              <p:tags r:id="rId2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23" name="Table 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6096000" y="2111375"/>
          <a:ext cx="5433695" cy="417258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45235"/>
                <a:gridCol w="1944370"/>
                <a:gridCol w="2244090"/>
              </a:tblGrid>
              <a:tr h="71818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核心模块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AA4E6"/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关键能力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AA4E6"/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典型场景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AA4E6"/>
                    </a:solidFill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数据展示</a:t>
                      </a:r>
                      <a:endParaRPr lang="en-US" sz="1300" b="1" i="0" u="none" strike="noStrike">
                        <a:solidFill>
                          <a:schemeClr val="accent1">
                            <a:lumMod val="7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>
                        <a:alpha val="7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A556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多维度组合筛选、实时排序、无限滚动加载、详情弹窗联动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>
                        <a:alpha val="7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A556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快速检索“2020年后评分&gt;8.0的硬核科幻片”并查看详情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>
                        <a:alpha val="75000"/>
                      </a:srgbClr>
                    </a:solidFill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D37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可视分析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A556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集成柱状/折线/饼图/雷达图，支持票房趋势与占比统计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A556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直观分析“近5年中国内地票房年度趋势及类型占比变化”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AI智能交互</a:t>
                      </a:r>
                      <a:endParaRPr lang="en-US" sz="1300" b="1" i="0" u="none" strike="noStrike">
                        <a:solidFill>
                          <a:schemeClr val="accent1">
                            <a:lumMod val="75000"/>
                          </a:schemeClr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>
                        <a:alpha val="7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A556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NLP自然语言理解、协同过滤推荐、票房智能预测模型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>
                        <a:alpha val="7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A556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语音指令：“帮我推荐类似《盗梦空间》的烧脑电影”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>
                        <a:alpha val="75000"/>
                      </a:srgbClr>
                    </a:solidFill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D37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A556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明暗模式自动切换、本地缓存管理、用户偏好云端同步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A556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夜间浏览自动切换深色护眼主题，缓存机制提升加载速度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6096000" y="764540"/>
            <a:ext cx="534035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系统采用</a:t>
            </a:r>
            <a:r>
              <a:rPr lang="en-US" sz="1400" b="1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高内聚低耦合的模块化架构</a:t>
            </a:r>
            <a:r>
              <a:rPr lang="en-US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，实现了从底层数据采集、清洗处理到上层展示分析的全链路闭环。各功能模块独立运行、灵活调用，既保障了数据流转的实时性与准确性，也为后续功能迭代和业务扩展提供了坚实的技术底座。</a:t>
            </a:r>
            <a:endParaRPr lang="en-US" altLang="en-US" sz="1400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" name="图片 1" descr="系统功能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05" y="1464945"/>
            <a:ext cx="4441190" cy="4264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左箭头 27"/>
          <p:cNvSpPr/>
          <p:nvPr>
            <p:custDataLst>
              <p:tags r:id="rId1"/>
            </p:custDataLst>
          </p:nvPr>
        </p:nvSpPr>
        <p:spPr>
          <a:xfrm rot="10800000">
            <a:off x="286212" y="1700747"/>
            <a:ext cx="788670" cy="394643"/>
          </a:xfrm>
          <a:prstGeom prst="leftArrow">
            <a:avLst/>
          </a:prstGeom>
          <a:gradFill>
            <a:gsLst>
              <a:gs pos="0">
                <a:srgbClr val="9188E6"/>
              </a:gs>
              <a:gs pos="100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左箭头 27"/>
          <p:cNvSpPr/>
          <p:nvPr>
            <p:custDataLst>
              <p:tags r:id="rId2"/>
            </p:custDataLst>
          </p:nvPr>
        </p:nvSpPr>
        <p:spPr>
          <a:xfrm rot="10800000">
            <a:off x="3310548" y="1700748"/>
            <a:ext cx="788670" cy="394643"/>
          </a:xfrm>
          <a:prstGeom prst="leftArrow">
            <a:avLst/>
          </a:prstGeom>
          <a:gradFill>
            <a:gsLst>
              <a:gs pos="100000">
                <a:srgbClr val="9188E6"/>
              </a:gs>
              <a:gs pos="4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>
            <p:custDataLst>
              <p:tags r:id="rId3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79425" y="476250"/>
            <a:ext cx="367284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69595" y="414655"/>
            <a:ext cx="4663440" cy="713740"/>
            <a:chOff x="350" y="332"/>
            <a:chExt cx="10089" cy="1124"/>
          </a:xfrm>
        </p:grpSpPr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" name="FLYING IMPRESSION FID FEIZHAO    qq:1964271550"/>
            <p:cNvSpPr txBox="1"/>
            <p:nvPr>
              <p:custDataLst>
                <p:tags r:id="rId6"/>
              </p:custDataLst>
            </p:nvPr>
          </p:nvSpPr>
          <p:spPr>
            <a:xfrm>
              <a:off x="504" y="332"/>
              <a:ext cx="9935" cy="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核心功能界面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介绍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LYING IMPRESSION FID FEIZHAO    qq:1964271550"/>
            <p:cNvSpPr txBox="1"/>
            <p:nvPr>
              <p:custDataLst>
                <p:tags r:id="rId7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Introduction to Core Functional Interfaces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>
            <p:custDataLst>
              <p:tags r:id="rId8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形状"/>
          <p:cNvSpPr/>
          <p:nvPr>
            <p:custDataLst>
              <p:tags r:id="rId9"/>
            </p:custDataLst>
          </p:nvPr>
        </p:nvSpPr>
        <p:spPr>
          <a:xfrm flipV="1">
            <a:off x="619180" y="1643896"/>
            <a:ext cx="2766476" cy="1466855"/>
          </a:xfrm>
          <a:custGeom>
            <a:avLst/>
            <a:gdLst>
              <a:gd name="connsiteX0" fmla="*/ 20288 w 21600"/>
              <a:gd name="connsiteY0" fmla="*/ 0 h 21600"/>
              <a:gd name="connsiteX1" fmla="*/ 1577 w 21600"/>
              <a:gd name="connsiteY1" fmla="*/ 11681 h 21600"/>
              <a:gd name="connsiteX2" fmla="*/ 0 w 21600"/>
              <a:gd name="connsiteY2" fmla="*/ 21600 h 21600"/>
              <a:gd name="connsiteX3" fmla="*/ 21600 w 21600"/>
              <a:gd name="connsiteY3" fmla="*/ 8361 h 21600"/>
              <a:gd name="connsiteX4" fmla="*/ 20288 w 21600"/>
              <a:gd name="connsiteY4" fmla="*/ 0 h 21600"/>
              <a:gd name="connsiteX0-1" fmla="*/ 20288 w 23905"/>
              <a:gd name="connsiteY0-2" fmla="*/ 0 h 21600"/>
              <a:gd name="connsiteX1-3" fmla="*/ 1577 w 23905"/>
              <a:gd name="connsiteY1-4" fmla="*/ 11681 h 21600"/>
              <a:gd name="connsiteX2-5" fmla="*/ 0 w 23905"/>
              <a:gd name="connsiteY2-6" fmla="*/ 21600 h 21600"/>
              <a:gd name="connsiteX3-7" fmla="*/ 23905 w 23905"/>
              <a:gd name="connsiteY3-8" fmla="*/ 4585 h 21600"/>
              <a:gd name="connsiteX4-9" fmla="*/ 20288 w 23905"/>
              <a:gd name="connsiteY4-10" fmla="*/ 0 h 21600"/>
              <a:gd name="connsiteX0-11" fmla="*/ 22469 w 23905"/>
              <a:gd name="connsiteY0-12" fmla="*/ 0 h 27044"/>
              <a:gd name="connsiteX1-13" fmla="*/ 1577 w 23905"/>
              <a:gd name="connsiteY1-14" fmla="*/ 17125 h 27044"/>
              <a:gd name="connsiteX2-15" fmla="*/ 0 w 23905"/>
              <a:gd name="connsiteY2-16" fmla="*/ 27044 h 27044"/>
              <a:gd name="connsiteX3-17" fmla="*/ 23905 w 23905"/>
              <a:gd name="connsiteY3-18" fmla="*/ 10029 h 27044"/>
              <a:gd name="connsiteX4-19" fmla="*/ 22469 w 23905"/>
              <a:gd name="connsiteY4-20" fmla="*/ 0 h 270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5" h="27044" extrusionOk="0">
                <a:moveTo>
                  <a:pt x="22469" y="0"/>
                </a:moveTo>
                <a:lnTo>
                  <a:pt x="1577" y="17125"/>
                </a:lnTo>
                <a:lnTo>
                  <a:pt x="0" y="27044"/>
                </a:lnTo>
                <a:lnTo>
                  <a:pt x="23905" y="10029"/>
                </a:lnTo>
                <a:lnTo>
                  <a:pt x="22469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形状"/>
          <p:cNvSpPr/>
          <p:nvPr>
            <p:custDataLst>
              <p:tags r:id="rId10"/>
            </p:custDataLst>
          </p:nvPr>
        </p:nvSpPr>
        <p:spPr>
          <a:xfrm flipV="1">
            <a:off x="858443" y="2578731"/>
            <a:ext cx="2286779" cy="1468120"/>
          </a:xfrm>
          <a:custGeom>
            <a:avLst/>
            <a:gdLst>
              <a:gd name="connsiteX0" fmla="*/ 19955 w 21600"/>
              <a:gd name="connsiteY0" fmla="*/ 0 h 21600"/>
              <a:gd name="connsiteX1" fmla="*/ 1867 w 21600"/>
              <a:gd name="connsiteY1" fmla="*/ 11931 h 21600"/>
              <a:gd name="connsiteX2" fmla="*/ 0 w 21600"/>
              <a:gd name="connsiteY2" fmla="*/ 21600 h 21600"/>
              <a:gd name="connsiteX3" fmla="*/ 21600 w 21600"/>
              <a:gd name="connsiteY3" fmla="*/ 8353 h 21600"/>
              <a:gd name="connsiteX4" fmla="*/ 19955 w 21600"/>
              <a:gd name="connsiteY4" fmla="*/ 0 h 21600"/>
              <a:gd name="connsiteX0-1" fmla="*/ 19955 w 24452"/>
              <a:gd name="connsiteY0-2" fmla="*/ 0 h 21600"/>
              <a:gd name="connsiteX1-3" fmla="*/ 1867 w 24452"/>
              <a:gd name="connsiteY1-4" fmla="*/ 11931 h 21600"/>
              <a:gd name="connsiteX2-5" fmla="*/ 0 w 24452"/>
              <a:gd name="connsiteY2-6" fmla="*/ 21600 h 21600"/>
              <a:gd name="connsiteX3-7" fmla="*/ 24452 w 24452"/>
              <a:gd name="connsiteY3-8" fmla="*/ 4406 h 21600"/>
              <a:gd name="connsiteX4-9" fmla="*/ 19955 w 24452"/>
              <a:gd name="connsiteY4-10" fmla="*/ 0 h 21600"/>
              <a:gd name="connsiteX0-11" fmla="*/ 22705 w 24452"/>
              <a:gd name="connsiteY0-12" fmla="*/ 0 h 27038"/>
              <a:gd name="connsiteX1-13" fmla="*/ 1867 w 24452"/>
              <a:gd name="connsiteY1-14" fmla="*/ 17369 h 27038"/>
              <a:gd name="connsiteX2-15" fmla="*/ 0 w 24452"/>
              <a:gd name="connsiteY2-16" fmla="*/ 27038 h 27038"/>
              <a:gd name="connsiteX3-17" fmla="*/ 24452 w 24452"/>
              <a:gd name="connsiteY3-18" fmla="*/ 9844 h 27038"/>
              <a:gd name="connsiteX4-19" fmla="*/ 22705 w 24452"/>
              <a:gd name="connsiteY4-20" fmla="*/ 0 h 27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52" h="27038" extrusionOk="0">
                <a:moveTo>
                  <a:pt x="22705" y="0"/>
                </a:moveTo>
                <a:lnTo>
                  <a:pt x="1867" y="17369"/>
                </a:lnTo>
                <a:lnTo>
                  <a:pt x="0" y="27038"/>
                </a:lnTo>
                <a:lnTo>
                  <a:pt x="24452" y="9844"/>
                </a:lnTo>
                <a:lnTo>
                  <a:pt x="22705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形状"/>
          <p:cNvSpPr/>
          <p:nvPr>
            <p:custDataLst>
              <p:tags r:id="rId11"/>
            </p:custDataLst>
          </p:nvPr>
        </p:nvSpPr>
        <p:spPr>
          <a:xfrm flipV="1">
            <a:off x="1133876" y="3506579"/>
            <a:ext cx="1685224" cy="1488280"/>
          </a:xfrm>
          <a:custGeom>
            <a:avLst/>
            <a:gdLst>
              <a:gd name="connsiteX0" fmla="*/ 19486 w 21500"/>
              <a:gd name="connsiteY0" fmla="*/ 0 h 21600"/>
              <a:gd name="connsiteX1" fmla="*/ 2129 w 21500"/>
              <a:gd name="connsiteY1" fmla="*/ 13239 h 21600"/>
              <a:gd name="connsiteX2" fmla="*/ 0 w 21500"/>
              <a:gd name="connsiteY2" fmla="*/ 21600 h 21600"/>
              <a:gd name="connsiteX3" fmla="*/ 21500 w 21500"/>
              <a:gd name="connsiteY3" fmla="*/ 4256 h 21600"/>
              <a:gd name="connsiteX4" fmla="*/ 19486 w 21500"/>
              <a:gd name="connsiteY4" fmla="*/ 0 h 21600"/>
              <a:gd name="connsiteX0-1" fmla="*/ 19486 w 21500"/>
              <a:gd name="connsiteY0-2" fmla="*/ 0 h 25595"/>
              <a:gd name="connsiteX1-3" fmla="*/ 2129 w 21500"/>
              <a:gd name="connsiteY1-4" fmla="*/ 17234 h 25595"/>
              <a:gd name="connsiteX2-5" fmla="*/ 0 w 21500"/>
              <a:gd name="connsiteY2-6" fmla="*/ 25595 h 25595"/>
              <a:gd name="connsiteX3-7" fmla="*/ 21500 w 21500"/>
              <a:gd name="connsiteY3-8" fmla="*/ 8251 h 25595"/>
              <a:gd name="connsiteX4-9" fmla="*/ 19486 w 21500"/>
              <a:gd name="connsiteY4-10" fmla="*/ 0 h 25595"/>
              <a:gd name="connsiteX0-11" fmla="*/ 19486 w 21500"/>
              <a:gd name="connsiteY0-12" fmla="*/ 0 h 25595"/>
              <a:gd name="connsiteX1-13" fmla="*/ 2530 w 21500"/>
              <a:gd name="connsiteY1-14" fmla="*/ 15741 h 25595"/>
              <a:gd name="connsiteX2-15" fmla="*/ 0 w 21500"/>
              <a:gd name="connsiteY2-16" fmla="*/ 25595 h 25595"/>
              <a:gd name="connsiteX3-17" fmla="*/ 21500 w 21500"/>
              <a:gd name="connsiteY3-18" fmla="*/ 8251 h 25595"/>
              <a:gd name="connsiteX4-19" fmla="*/ 19486 w 21500"/>
              <a:gd name="connsiteY4-20" fmla="*/ 0 h 25595"/>
              <a:gd name="connsiteX0-21" fmla="*/ 19486 w 23638"/>
              <a:gd name="connsiteY0-22" fmla="*/ 0 h 25595"/>
              <a:gd name="connsiteX1-23" fmla="*/ 2530 w 23638"/>
              <a:gd name="connsiteY1-24" fmla="*/ 15741 h 25595"/>
              <a:gd name="connsiteX2-25" fmla="*/ 0 w 23638"/>
              <a:gd name="connsiteY2-26" fmla="*/ 25595 h 25595"/>
              <a:gd name="connsiteX3-27" fmla="*/ 23638 w 23638"/>
              <a:gd name="connsiteY3-28" fmla="*/ 7988 h 25595"/>
              <a:gd name="connsiteX4-29" fmla="*/ 19486 w 23638"/>
              <a:gd name="connsiteY4-30" fmla="*/ 0 h 25595"/>
              <a:gd name="connsiteX0-31" fmla="*/ 21557 w 23638"/>
              <a:gd name="connsiteY0-32" fmla="*/ 0 h 27439"/>
              <a:gd name="connsiteX1-33" fmla="*/ 2530 w 23638"/>
              <a:gd name="connsiteY1-34" fmla="*/ 17585 h 27439"/>
              <a:gd name="connsiteX2-35" fmla="*/ 0 w 23638"/>
              <a:gd name="connsiteY2-36" fmla="*/ 27439 h 27439"/>
              <a:gd name="connsiteX3-37" fmla="*/ 23638 w 23638"/>
              <a:gd name="connsiteY3-38" fmla="*/ 9832 h 27439"/>
              <a:gd name="connsiteX4-39" fmla="*/ 21557 w 23638"/>
              <a:gd name="connsiteY4-40" fmla="*/ 0 h 274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38" h="27439" extrusionOk="0">
                <a:moveTo>
                  <a:pt x="21557" y="0"/>
                </a:moveTo>
                <a:lnTo>
                  <a:pt x="2530" y="17585"/>
                </a:lnTo>
                <a:lnTo>
                  <a:pt x="0" y="27439"/>
                </a:lnTo>
                <a:lnTo>
                  <a:pt x="23638" y="9832"/>
                </a:lnTo>
                <a:lnTo>
                  <a:pt x="21557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形状"/>
          <p:cNvSpPr/>
          <p:nvPr>
            <p:custDataLst>
              <p:tags r:id="rId12"/>
            </p:custDataLst>
          </p:nvPr>
        </p:nvSpPr>
        <p:spPr>
          <a:xfrm flipV="1">
            <a:off x="1411475" y="4445859"/>
            <a:ext cx="1202677" cy="1482713"/>
          </a:xfrm>
          <a:custGeom>
            <a:avLst/>
            <a:gdLst>
              <a:gd name="connsiteX0" fmla="*/ 19530 w 21600"/>
              <a:gd name="connsiteY0" fmla="*/ 0 h 25879"/>
              <a:gd name="connsiteX1" fmla="*/ 3095 w 21600"/>
              <a:gd name="connsiteY1" fmla="*/ 17583 h 25879"/>
              <a:gd name="connsiteX2" fmla="*/ 0 w 21600"/>
              <a:gd name="connsiteY2" fmla="*/ 25879 h 25879"/>
              <a:gd name="connsiteX3" fmla="*/ 21600 w 21600"/>
              <a:gd name="connsiteY3" fmla="*/ 12709 h 25879"/>
              <a:gd name="connsiteX4" fmla="*/ 19530 w 21600"/>
              <a:gd name="connsiteY4" fmla="*/ 0 h 25879"/>
              <a:gd name="connsiteX0-1" fmla="*/ 19530 w 22377"/>
              <a:gd name="connsiteY0-2" fmla="*/ 0 h 25879"/>
              <a:gd name="connsiteX1-3" fmla="*/ 3095 w 22377"/>
              <a:gd name="connsiteY1-4" fmla="*/ 17583 h 25879"/>
              <a:gd name="connsiteX2-5" fmla="*/ 0 w 22377"/>
              <a:gd name="connsiteY2-6" fmla="*/ 25879 h 25879"/>
              <a:gd name="connsiteX3-7" fmla="*/ 22377 w 22377"/>
              <a:gd name="connsiteY3-8" fmla="*/ 8648 h 25879"/>
              <a:gd name="connsiteX4-9" fmla="*/ 19530 w 22377"/>
              <a:gd name="connsiteY4-10" fmla="*/ 0 h 25879"/>
              <a:gd name="connsiteX0-11" fmla="*/ 19530 w 22377"/>
              <a:gd name="connsiteY0-12" fmla="*/ 0 h 25879"/>
              <a:gd name="connsiteX1-13" fmla="*/ 3580 w 22377"/>
              <a:gd name="connsiteY1-14" fmla="*/ 15749 h 25879"/>
              <a:gd name="connsiteX2-15" fmla="*/ 0 w 22377"/>
              <a:gd name="connsiteY2-16" fmla="*/ 25879 h 25879"/>
              <a:gd name="connsiteX3-17" fmla="*/ 22377 w 22377"/>
              <a:gd name="connsiteY3-18" fmla="*/ 8648 h 25879"/>
              <a:gd name="connsiteX4-19" fmla="*/ 19530 w 22377"/>
              <a:gd name="connsiteY4-20" fmla="*/ 0 h 25879"/>
              <a:gd name="connsiteX0-21" fmla="*/ 19530 w 24512"/>
              <a:gd name="connsiteY0-22" fmla="*/ 0 h 25879"/>
              <a:gd name="connsiteX1-23" fmla="*/ 3580 w 24512"/>
              <a:gd name="connsiteY1-24" fmla="*/ 15749 h 25879"/>
              <a:gd name="connsiteX2-25" fmla="*/ 0 w 24512"/>
              <a:gd name="connsiteY2-26" fmla="*/ 25879 h 25879"/>
              <a:gd name="connsiteX3-27" fmla="*/ 24512 w 24512"/>
              <a:gd name="connsiteY3-28" fmla="*/ 8648 h 25879"/>
              <a:gd name="connsiteX4-29" fmla="*/ 19530 w 24512"/>
              <a:gd name="connsiteY4-30" fmla="*/ 0 h 25879"/>
              <a:gd name="connsiteX0-31" fmla="*/ 21180 w 24512"/>
              <a:gd name="connsiteY0-32" fmla="*/ 0 h 27189"/>
              <a:gd name="connsiteX1-33" fmla="*/ 3580 w 24512"/>
              <a:gd name="connsiteY1-34" fmla="*/ 17059 h 27189"/>
              <a:gd name="connsiteX2-35" fmla="*/ 0 w 24512"/>
              <a:gd name="connsiteY2-36" fmla="*/ 27189 h 27189"/>
              <a:gd name="connsiteX3-37" fmla="*/ 24512 w 24512"/>
              <a:gd name="connsiteY3-38" fmla="*/ 9958 h 27189"/>
              <a:gd name="connsiteX4-39" fmla="*/ 21180 w 24512"/>
              <a:gd name="connsiteY4-40" fmla="*/ 0 h 27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512" h="27189" extrusionOk="0">
                <a:moveTo>
                  <a:pt x="21180" y="0"/>
                </a:moveTo>
                <a:lnTo>
                  <a:pt x="3580" y="17059"/>
                </a:lnTo>
                <a:lnTo>
                  <a:pt x="0" y="27189"/>
                </a:lnTo>
                <a:lnTo>
                  <a:pt x="24512" y="9958"/>
                </a:lnTo>
                <a:lnTo>
                  <a:pt x="21180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5"/>
          <p:cNvSpPr/>
          <p:nvPr>
            <p:custDataLst>
              <p:tags r:id="rId13"/>
            </p:custDataLst>
          </p:nvPr>
        </p:nvSpPr>
        <p:spPr>
          <a:xfrm>
            <a:off x="616500" y="1645691"/>
            <a:ext cx="3049849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5917" h="712">
                <a:moveTo>
                  <a:pt x="0" y="0"/>
                </a:moveTo>
                <a:lnTo>
                  <a:pt x="5917" y="0"/>
                </a:lnTo>
                <a:lnTo>
                  <a:pt x="5591" y="712"/>
                </a:lnTo>
                <a:lnTo>
                  <a:pt x="332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7000">
                <a:srgbClr val="8F6FFF"/>
              </a:gs>
              <a:gs pos="0">
                <a:srgbClr val="BDCDFF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电影总览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页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0" name="任意多边形 6"/>
          <p:cNvSpPr/>
          <p:nvPr>
            <p:custDataLst>
              <p:tags r:id="rId14"/>
            </p:custDataLst>
          </p:nvPr>
        </p:nvSpPr>
        <p:spPr>
          <a:xfrm>
            <a:off x="880220" y="2577470"/>
            <a:ext cx="24997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878" h="715">
                <a:moveTo>
                  <a:pt x="0" y="0"/>
                </a:moveTo>
                <a:lnTo>
                  <a:pt x="4878" y="0"/>
                </a:lnTo>
                <a:lnTo>
                  <a:pt x="4550" y="715"/>
                </a:lnTo>
                <a:lnTo>
                  <a:pt x="325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可视化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分析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1" name="任意多边形 8"/>
          <p:cNvSpPr/>
          <p:nvPr>
            <p:custDataLst>
              <p:tags r:id="rId15"/>
            </p:custDataLst>
          </p:nvPr>
        </p:nvSpPr>
        <p:spPr>
          <a:xfrm>
            <a:off x="1145877" y="3513574"/>
            <a:ext cx="19989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3846" h="715">
                <a:moveTo>
                  <a:pt x="0" y="0"/>
                </a:moveTo>
                <a:lnTo>
                  <a:pt x="3846" y="0"/>
                </a:lnTo>
                <a:lnTo>
                  <a:pt x="3514" y="715"/>
                </a:lnTo>
                <a:lnTo>
                  <a:pt x="328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电影详细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弹窗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2" name="任意多边形 9"/>
          <p:cNvSpPr/>
          <p:nvPr>
            <p:custDataLst>
              <p:tags r:id="rId16"/>
            </p:custDataLst>
          </p:nvPr>
        </p:nvSpPr>
        <p:spPr>
          <a:xfrm>
            <a:off x="1411322" y="4451583"/>
            <a:ext cx="1423215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2806" h="712">
                <a:moveTo>
                  <a:pt x="0" y="0"/>
                </a:moveTo>
                <a:lnTo>
                  <a:pt x="2806" y="0"/>
                </a:lnTo>
                <a:lnTo>
                  <a:pt x="2480" y="712"/>
                </a:lnTo>
                <a:lnTo>
                  <a:pt x="328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智能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助手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3" name="任意多边形 12"/>
          <p:cNvSpPr/>
          <p:nvPr>
            <p:custDataLst>
              <p:tags r:id="rId17"/>
            </p:custDataLst>
          </p:nvPr>
        </p:nvSpPr>
        <p:spPr>
          <a:xfrm>
            <a:off x="1721677" y="5380702"/>
            <a:ext cx="896736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1768" h="723">
                <a:moveTo>
                  <a:pt x="0" y="0"/>
                </a:moveTo>
                <a:lnTo>
                  <a:pt x="1768" y="0"/>
                </a:lnTo>
                <a:lnTo>
                  <a:pt x="1436" y="723"/>
                </a:lnTo>
                <a:lnTo>
                  <a:pt x="332" y="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夜间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56" name="Picture 4"/>
          <p:cNvPicPr>
            <a:picLocks noChangeAspect="1"/>
          </p:cNvPicPr>
          <p:nvPr/>
        </p:nvPicPr>
        <p:blipFill>
          <a:blip r:embed="rId18"/>
          <a:srcRect l="11948" r="-562"/>
          <a:stretch>
            <a:fillRect/>
          </a:stretch>
        </p:blipFill>
        <p:spPr>
          <a:xfrm>
            <a:off x="5231765" y="877570"/>
            <a:ext cx="5915025" cy="3254375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  <p:sp>
        <p:nvSpPr>
          <p:cNvPr id="59" name="圆角矩形 58"/>
          <p:cNvSpPr/>
          <p:nvPr/>
        </p:nvSpPr>
        <p:spPr>
          <a:xfrm>
            <a:off x="5231765" y="4451350"/>
            <a:ext cx="5553710" cy="234505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6311900" y="4725035"/>
            <a:ext cx="6096000" cy="1235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33000"/>
              </a:lnSpc>
              <a:defRPr/>
            </a:pPr>
            <a:r>
              <a:rPr lang="en-US" sz="1400" kern="1400" spc="5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多维组合筛选：类型/年份自由组合</a:t>
            </a:r>
            <a:endParaRPr lang="en-US" sz="1100" kern="1400" spc="50">
              <a:solidFill>
                <a:schemeClr val="accent6">
                  <a:lumMod val="60000"/>
                  <a:lumOff val="40000"/>
                </a:schemeClr>
              </a:solidFill>
              <a:uFillTx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kern="1400" spc="5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智能一键排序：评分/票房/上映时间</a:t>
            </a:r>
            <a:endParaRPr lang="en-US" sz="1400" b="0" i="0" kern="1400" spc="5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kern="1400" spc="5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极致性能体验：无限滚动+图片懒加载</a:t>
            </a:r>
            <a:endParaRPr lang="en-US" sz="1400" b="0" i="0" kern="1400" spc="5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kern="1400" spc="5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动态交互反馈：卡片悬停与弹窗交互</a:t>
            </a:r>
            <a:endParaRPr lang="en-US" altLang="en-US" sz="1400" kern="1400" spc="5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5" name="矩形 54"/>
          <p:cNvSpPr/>
          <p:nvPr>
            <p:custDataLst>
              <p:tags r:id="rId2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1" name="左箭头 27"/>
          <p:cNvSpPr/>
          <p:nvPr>
            <p:custDataLst>
              <p:tags r:id="rId3"/>
            </p:custDataLst>
          </p:nvPr>
        </p:nvSpPr>
        <p:spPr>
          <a:xfrm rot="10800000">
            <a:off x="516841" y="2674588"/>
            <a:ext cx="788670" cy="394643"/>
          </a:xfrm>
          <a:prstGeom prst="leftArrow">
            <a:avLst/>
          </a:prstGeom>
          <a:gradFill>
            <a:gsLst>
              <a:gs pos="0">
                <a:srgbClr val="9188E6"/>
              </a:gs>
              <a:gs pos="100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左箭头 27"/>
          <p:cNvSpPr/>
          <p:nvPr>
            <p:custDataLst>
              <p:tags r:id="rId4"/>
            </p:custDataLst>
          </p:nvPr>
        </p:nvSpPr>
        <p:spPr>
          <a:xfrm rot="10800000">
            <a:off x="3105711" y="2674587"/>
            <a:ext cx="788670" cy="394643"/>
          </a:xfrm>
          <a:prstGeom prst="leftArrow">
            <a:avLst/>
          </a:prstGeom>
          <a:gradFill>
            <a:gsLst>
              <a:gs pos="100000">
                <a:srgbClr val="9188E6"/>
              </a:gs>
              <a:gs pos="4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形状"/>
          <p:cNvSpPr/>
          <p:nvPr>
            <p:custDataLst>
              <p:tags r:id="rId5"/>
            </p:custDataLst>
          </p:nvPr>
        </p:nvSpPr>
        <p:spPr>
          <a:xfrm flipV="1">
            <a:off x="630367" y="1628800"/>
            <a:ext cx="2766476" cy="1466855"/>
          </a:xfrm>
          <a:custGeom>
            <a:avLst/>
            <a:gdLst>
              <a:gd name="connsiteX0" fmla="*/ 20288 w 21600"/>
              <a:gd name="connsiteY0" fmla="*/ 0 h 21600"/>
              <a:gd name="connsiteX1" fmla="*/ 1577 w 21600"/>
              <a:gd name="connsiteY1" fmla="*/ 11681 h 21600"/>
              <a:gd name="connsiteX2" fmla="*/ 0 w 21600"/>
              <a:gd name="connsiteY2" fmla="*/ 21600 h 21600"/>
              <a:gd name="connsiteX3" fmla="*/ 21600 w 21600"/>
              <a:gd name="connsiteY3" fmla="*/ 8361 h 21600"/>
              <a:gd name="connsiteX4" fmla="*/ 20288 w 21600"/>
              <a:gd name="connsiteY4" fmla="*/ 0 h 21600"/>
              <a:gd name="connsiteX0-1" fmla="*/ 20288 w 23905"/>
              <a:gd name="connsiteY0-2" fmla="*/ 0 h 21600"/>
              <a:gd name="connsiteX1-3" fmla="*/ 1577 w 23905"/>
              <a:gd name="connsiteY1-4" fmla="*/ 11681 h 21600"/>
              <a:gd name="connsiteX2-5" fmla="*/ 0 w 23905"/>
              <a:gd name="connsiteY2-6" fmla="*/ 21600 h 21600"/>
              <a:gd name="connsiteX3-7" fmla="*/ 23905 w 23905"/>
              <a:gd name="connsiteY3-8" fmla="*/ 4585 h 21600"/>
              <a:gd name="connsiteX4-9" fmla="*/ 20288 w 23905"/>
              <a:gd name="connsiteY4-10" fmla="*/ 0 h 21600"/>
              <a:gd name="connsiteX0-11" fmla="*/ 22469 w 23905"/>
              <a:gd name="connsiteY0-12" fmla="*/ 0 h 27044"/>
              <a:gd name="connsiteX1-13" fmla="*/ 1577 w 23905"/>
              <a:gd name="connsiteY1-14" fmla="*/ 17125 h 27044"/>
              <a:gd name="connsiteX2-15" fmla="*/ 0 w 23905"/>
              <a:gd name="connsiteY2-16" fmla="*/ 27044 h 27044"/>
              <a:gd name="connsiteX3-17" fmla="*/ 23905 w 23905"/>
              <a:gd name="connsiteY3-18" fmla="*/ 10029 h 27044"/>
              <a:gd name="connsiteX4-19" fmla="*/ 22469 w 23905"/>
              <a:gd name="connsiteY4-20" fmla="*/ 0 h 270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5" h="27044" extrusionOk="0">
                <a:moveTo>
                  <a:pt x="22469" y="0"/>
                </a:moveTo>
                <a:lnTo>
                  <a:pt x="1577" y="17125"/>
                </a:lnTo>
                <a:lnTo>
                  <a:pt x="0" y="27044"/>
                </a:lnTo>
                <a:lnTo>
                  <a:pt x="23905" y="10029"/>
                </a:lnTo>
                <a:lnTo>
                  <a:pt x="22469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形状"/>
          <p:cNvSpPr/>
          <p:nvPr>
            <p:custDataLst>
              <p:tags r:id="rId6"/>
            </p:custDataLst>
          </p:nvPr>
        </p:nvSpPr>
        <p:spPr>
          <a:xfrm flipV="1">
            <a:off x="869630" y="2563635"/>
            <a:ext cx="2286779" cy="1468120"/>
          </a:xfrm>
          <a:custGeom>
            <a:avLst/>
            <a:gdLst>
              <a:gd name="connsiteX0" fmla="*/ 19955 w 21600"/>
              <a:gd name="connsiteY0" fmla="*/ 0 h 21600"/>
              <a:gd name="connsiteX1" fmla="*/ 1867 w 21600"/>
              <a:gd name="connsiteY1" fmla="*/ 11931 h 21600"/>
              <a:gd name="connsiteX2" fmla="*/ 0 w 21600"/>
              <a:gd name="connsiteY2" fmla="*/ 21600 h 21600"/>
              <a:gd name="connsiteX3" fmla="*/ 21600 w 21600"/>
              <a:gd name="connsiteY3" fmla="*/ 8353 h 21600"/>
              <a:gd name="connsiteX4" fmla="*/ 19955 w 21600"/>
              <a:gd name="connsiteY4" fmla="*/ 0 h 21600"/>
              <a:gd name="connsiteX0-1" fmla="*/ 19955 w 24452"/>
              <a:gd name="connsiteY0-2" fmla="*/ 0 h 21600"/>
              <a:gd name="connsiteX1-3" fmla="*/ 1867 w 24452"/>
              <a:gd name="connsiteY1-4" fmla="*/ 11931 h 21600"/>
              <a:gd name="connsiteX2-5" fmla="*/ 0 w 24452"/>
              <a:gd name="connsiteY2-6" fmla="*/ 21600 h 21600"/>
              <a:gd name="connsiteX3-7" fmla="*/ 24452 w 24452"/>
              <a:gd name="connsiteY3-8" fmla="*/ 4406 h 21600"/>
              <a:gd name="connsiteX4-9" fmla="*/ 19955 w 24452"/>
              <a:gd name="connsiteY4-10" fmla="*/ 0 h 21600"/>
              <a:gd name="connsiteX0-11" fmla="*/ 22705 w 24452"/>
              <a:gd name="connsiteY0-12" fmla="*/ 0 h 27038"/>
              <a:gd name="connsiteX1-13" fmla="*/ 1867 w 24452"/>
              <a:gd name="connsiteY1-14" fmla="*/ 17369 h 27038"/>
              <a:gd name="connsiteX2-15" fmla="*/ 0 w 24452"/>
              <a:gd name="connsiteY2-16" fmla="*/ 27038 h 27038"/>
              <a:gd name="connsiteX3-17" fmla="*/ 24452 w 24452"/>
              <a:gd name="connsiteY3-18" fmla="*/ 9844 h 27038"/>
              <a:gd name="connsiteX4-19" fmla="*/ 22705 w 24452"/>
              <a:gd name="connsiteY4-20" fmla="*/ 0 h 27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52" h="27038" extrusionOk="0">
                <a:moveTo>
                  <a:pt x="22705" y="0"/>
                </a:moveTo>
                <a:lnTo>
                  <a:pt x="1867" y="17369"/>
                </a:lnTo>
                <a:lnTo>
                  <a:pt x="0" y="27038"/>
                </a:lnTo>
                <a:lnTo>
                  <a:pt x="24452" y="9844"/>
                </a:lnTo>
                <a:lnTo>
                  <a:pt x="22705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形状"/>
          <p:cNvSpPr/>
          <p:nvPr>
            <p:custDataLst>
              <p:tags r:id="rId7"/>
            </p:custDataLst>
          </p:nvPr>
        </p:nvSpPr>
        <p:spPr>
          <a:xfrm flipV="1">
            <a:off x="1145063" y="3491483"/>
            <a:ext cx="1685224" cy="1488280"/>
          </a:xfrm>
          <a:custGeom>
            <a:avLst/>
            <a:gdLst>
              <a:gd name="connsiteX0" fmla="*/ 19486 w 21500"/>
              <a:gd name="connsiteY0" fmla="*/ 0 h 21600"/>
              <a:gd name="connsiteX1" fmla="*/ 2129 w 21500"/>
              <a:gd name="connsiteY1" fmla="*/ 13239 h 21600"/>
              <a:gd name="connsiteX2" fmla="*/ 0 w 21500"/>
              <a:gd name="connsiteY2" fmla="*/ 21600 h 21600"/>
              <a:gd name="connsiteX3" fmla="*/ 21500 w 21500"/>
              <a:gd name="connsiteY3" fmla="*/ 4256 h 21600"/>
              <a:gd name="connsiteX4" fmla="*/ 19486 w 21500"/>
              <a:gd name="connsiteY4" fmla="*/ 0 h 21600"/>
              <a:gd name="connsiteX0-1" fmla="*/ 19486 w 21500"/>
              <a:gd name="connsiteY0-2" fmla="*/ 0 h 25595"/>
              <a:gd name="connsiteX1-3" fmla="*/ 2129 w 21500"/>
              <a:gd name="connsiteY1-4" fmla="*/ 17234 h 25595"/>
              <a:gd name="connsiteX2-5" fmla="*/ 0 w 21500"/>
              <a:gd name="connsiteY2-6" fmla="*/ 25595 h 25595"/>
              <a:gd name="connsiteX3-7" fmla="*/ 21500 w 21500"/>
              <a:gd name="connsiteY3-8" fmla="*/ 8251 h 25595"/>
              <a:gd name="connsiteX4-9" fmla="*/ 19486 w 21500"/>
              <a:gd name="connsiteY4-10" fmla="*/ 0 h 25595"/>
              <a:gd name="connsiteX0-11" fmla="*/ 19486 w 21500"/>
              <a:gd name="connsiteY0-12" fmla="*/ 0 h 25595"/>
              <a:gd name="connsiteX1-13" fmla="*/ 2530 w 21500"/>
              <a:gd name="connsiteY1-14" fmla="*/ 15741 h 25595"/>
              <a:gd name="connsiteX2-15" fmla="*/ 0 w 21500"/>
              <a:gd name="connsiteY2-16" fmla="*/ 25595 h 25595"/>
              <a:gd name="connsiteX3-17" fmla="*/ 21500 w 21500"/>
              <a:gd name="connsiteY3-18" fmla="*/ 8251 h 25595"/>
              <a:gd name="connsiteX4-19" fmla="*/ 19486 w 21500"/>
              <a:gd name="connsiteY4-20" fmla="*/ 0 h 25595"/>
              <a:gd name="connsiteX0-21" fmla="*/ 19486 w 23638"/>
              <a:gd name="connsiteY0-22" fmla="*/ 0 h 25595"/>
              <a:gd name="connsiteX1-23" fmla="*/ 2530 w 23638"/>
              <a:gd name="connsiteY1-24" fmla="*/ 15741 h 25595"/>
              <a:gd name="connsiteX2-25" fmla="*/ 0 w 23638"/>
              <a:gd name="connsiteY2-26" fmla="*/ 25595 h 25595"/>
              <a:gd name="connsiteX3-27" fmla="*/ 23638 w 23638"/>
              <a:gd name="connsiteY3-28" fmla="*/ 7988 h 25595"/>
              <a:gd name="connsiteX4-29" fmla="*/ 19486 w 23638"/>
              <a:gd name="connsiteY4-30" fmla="*/ 0 h 25595"/>
              <a:gd name="connsiteX0-31" fmla="*/ 21557 w 23638"/>
              <a:gd name="connsiteY0-32" fmla="*/ 0 h 27439"/>
              <a:gd name="connsiteX1-33" fmla="*/ 2530 w 23638"/>
              <a:gd name="connsiteY1-34" fmla="*/ 17585 h 27439"/>
              <a:gd name="connsiteX2-35" fmla="*/ 0 w 23638"/>
              <a:gd name="connsiteY2-36" fmla="*/ 27439 h 27439"/>
              <a:gd name="connsiteX3-37" fmla="*/ 23638 w 23638"/>
              <a:gd name="connsiteY3-38" fmla="*/ 9832 h 27439"/>
              <a:gd name="connsiteX4-39" fmla="*/ 21557 w 23638"/>
              <a:gd name="connsiteY4-40" fmla="*/ 0 h 274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38" h="27439" extrusionOk="0">
                <a:moveTo>
                  <a:pt x="21557" y="0"/>
                </a:moveTo>
                <a:lnTo>
                  <a:pt x="2530" y="17585"/>
                </a:lnTo>
                <a:lnTo>
                  <a:pt x="0" y="27439"/>
                </a:lnTo>
                <a:lnTo>
                  <a:pt x="23638" y="9832"/>
                </a:lnTo>
                <a:lnTo>
                  <a:pt x="21557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形状"/>
          <p:cNvSpPr/>
          <p:nvPr>
            <p:custDataLst>
              <p:tags r:id="rId8"/>
            </p:custDataLst>
          </p:nvPr>
        </p:nvSpPr>
        <p:spPr>
          <a:xfrm flipV="1">
            <a:off x="1422662" y="4430763"/>
            <a:ext cx="1202677" cy="1482713"/>
          </a:xfrm>
          <a:custGeom>
            <a:avLst/>
            <a:gdLst>
              <a:gd name="connsiteX0" fmla="*/ 19530 w 21600"/>
              <a:gd name="connsiteY0" fmla="*/ 0 h 25879"/>
              <a:gd name="connsiteX1" fmla="*/ 3095 w 21600"/>
              <a:gd name="connsiteY1" fmla="*/ 17583 h 25879"/>
              <a:gd name="connsiteX2" fmla="*/ 0 w 21600"/>
              <a:gd name="connsiteY2" fmla="*/ 25879 h 25879"/>
              <a:gd name="connsiteX3" fmla="*/ 21600 w 21600"/>
              <a:gd name="connsiteY3" fmla="*/ 12709 h 25879"/>
              <a:gd name="connsiteX4" fmla="*/ 19530 w 21600"/>
              <a:gd name="connsiteY4" fmla="*/ 0 h 25879"/>
              <a:gd name="connsiteX0-1" fmla="*/ 19530 w 22377"/>
              <a:gd name="connsiteY0-2" fmla="*/ 0 h 25879"/>
              <a:gd name="connsiteX1-3" fmla="*/ 3095 w 22377"/>
              <a:gd name="connsiteY1-4" fmla="*/ 17583 h 25879"/>
              <a:gd name="connsiteX2-5" fmla="*/ 0 w 22377"/>
              <a:gd name="connsiteY2-6" fmla="*/ 25879 h 25879"/>
              <a:gd name="connsiteX3-7" fmla="*/ 22377 w 22377"/>
              <a:gd name="connsiteY3-8" fmla="*/ 8648 h 25879"/>
              <a:gd name="connsiteX4-9" fmla="*/ 19530 w 22377"/>
              <a:gd name="connsiteY4-10" fmla="*/ 0 h 25879"/>
              <a:gd name="connsiteX0-11" fmla="*/ 19530 w 22377"/>
              <a:gd name="connsiteY0-12" fmla="*/ 0 h 25879"/>
              <a:gd name="connsiteX1-13" fmla="*/ 3580 w 22377"/>
              <a:gd name="connsiteY1-14" fmla="*/ 15749 h 25879"/>
              <a:gd name="connsiteX2-15" fmla="*/ 0 w 22377"/>
              <a:gd name="connsiteY2-16" fmla="*/ 25879 h 25879"/>
              <a:gd name="connsiteX3-17" fmla="*/ 22377 w 22377"/>
              <a:gd name="connsiteY3-18" fmla="*/ 8648 h 25879"/>
              <a:gd name="connsiteX4-19" fmla="*/ 19530 w 22377"/>
              <a:gd name="connsiteY4-20" fmla="*/ 0 h 25879"/>
              <a:gd name="connsiteX0-21" fmla="*/ 19530 w 24512"/>
              <a:gd name="connsiteY0-22" fmla="*/ 0 h 25879"/>
              <a:gd name="connsiteX1-23" fmla="*/ 3580 w 24512"/>
              <a:gd name="connsiteY1-24" fmla="*/ 15749 h 25879"/>
              <a:gd name="connsiteX2-25" fmla="*/ 0 w 24512"/>
              <a:gd name="connsiteY2-26" fmla="*/ 25879 h 25879"/>
              <a:gd name="connsiteX3-27" fmla="*/ 24512 w 24512"/>
              <a:gd name="connsiteY3-28" fmla="*/ 8648 h 25879"/>
              <a:gd name="connsiteX4-29" fmla="*/ 19530 w 24512"/>
              <a:gd name="connsiteY4-30" fmla="*/ 0 h 25879"/>
              <a:gd name="connsiteX0-31" fmla="*/ 21180 w 24512"/>
              <a:gd name="connsiteY0-32" fmla="*/ 0 h 27189"/>
              <a:gd name="connsiteX1-33" fmla="*/ 3580 w 24512"/>
              <a:gd name="connsiteY1-34" fmla="*/ 17059 h 27189"/>
              <a:gd name="connsiteX2-35" fmla="*/ 0 w 24512"/>
              <a:gd name="connsiteY2-36" fmla="*/ 27189 h 27189"/>
              <a:gd name="connsiteX3-37" fmla="*/ 24512 w 24512"/>
              <a:gd name="connsiteY3-38" fmla="*/ 9958 h 27189"/>
              <a:gd name="connsiteX4-39" fmla="*/ 21180 w 24512"/>
              <a:gd name="connsiteY4-40" fmla="*/ 0 h 27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512" h="27189" extrusionOk="0">
                <a:moveTo>
                  <a:pt x="21180" y="0"/>
                </a:moveTo>
                <a:lnTo>
                  <a:pt x="3580" y="17059"/>
                </a:lnTo>
                <a:lnTo>
                  <a:pt x="0" y="27189"/>
                </a:lnTo>
                <a:lnTo>
                  <a:pt x="24512" y="9958"/>
                </a:lnTo>
                <a:lnTo>
                  <a:pt x="21180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任意多边形 5"/>
          <p:cNvSpPr/>
          <p:nvPr>
            <p:custDataLst>
              <p:tags r:id="rId9"/>
            </p:custDataLst>
          </p:nvPr>
        </p:nvSpPr>
        <p:spPr>
          <a:xfrm>
            <a:off x="627687" y="1630595"/>
            <a:ext cx="3049849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5917" h="712">
                <a:moveTo>
                  <a:pt x="0" y="0"/>
                </a:moveTo>
                <a:lnTo>
                  <a:pt x="5917" y="0"/>
                </a:lnTo>
                <a:lnTo>
                  <a:pt x="5591" y="712"/>
                </a:lnTo>
                <a:lnTo>
                  <a:pt x="332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电影总览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页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8" name="任意多边形 6"/>
          <p:cNvSpPr/>
          <p:nvPr>
            <p:custDataLst>
              <p:tags r:id="rId10"/>
            </p:custDataLst>
          </p:nvPr>
        </p:nvSpPr>
        <p:spPr>
          <a:xfrm>
            <a:off x="891407" y="2562374"/>
            <a:ext cx="24997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878" h="715">
                <a:moveTo>
                  <a:pt x="0" y="0"/>
                </a:moveTo>
                <a:lnTo>
                  <a:pt x="4878" y="0"/>
                </a:lnTo>
                <a:lnTo>
                  <a:pt x="4550" y="715"/>
                </a:lnTo>
                <a:lnTo>
                  <a:pt x="325" y="715"/>
                </a:lnTo>
                <a:lnTo>
                  <a:pt x="0" y="0"/>
                </a:lnTo>
                <a:close/>
              </a:path>
            </a:pathLst>
          </a:custGeom>
          <a:gradFill flip="none">
            <a:gsLst>
              <a:gs pos="57000">
                <a:srgbClr val="8F6FFF"/>
              </a:gs>
              <a:gs pos="0">
                <a:srgbClr val="D7E0F7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可视化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分析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9" name="任意多边形 8"/>
          <p:cNvSpPr/>
          <p:nvPr>
            <p:custDataLst>
              <p:tags r:id="rId11"/>
            </p:custDataLst>
          </p:nvPr>
        </p:nvSpPr>
        <p:spPr>
          <a:xfrm>
            <a:off x="1157064" y="3498478"/>
            <a:ext cx="19989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3846" h="715">
                <a:moveTo>
                  <a:pt x="0" y="0"/>
                </a:moveTo>
                <a:lnTo>
                  <a:pt x="3846" y="0"/>
                </a:lnTo>
                <a:lnTo>
                  <a:pt x="3514" y="715"/>
                </a:lnTo>
                <a:lnTo>
                  <a:pt x="328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详细弹窗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70" name="任意多边形 9"/>
          <p:cNvSpPr/>
          <p:nvPr>
            <p:custDataLst>
              <p:tags r:id="rId12"/>
            </p:custDataLst>
          </p:nvPr>
        </p:nvSpPr>
        <p:spPr>
          <a:xfrm>
            <a:off x="1422509" y="4436487"/>
            <a:ext cx="1423215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2806" h="712">
                <a:moveTo>
                  <a:pt x="0" y="0"/>
                </a:moveTo>
                <a:lnTo>
                  <a:pt x="2806" y="0"/>
                </a:lnTo>
                <a:lnTo>
                  <a:pt x="2480" y="712"/>
                </a:lnTo>
                <a:lnTo>
                  <a:pt x="328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智能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助手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71" name="任意多边形 12"/>
          <p:cNvSpPr/>
          <p:nvPr>
            <p:custDataLst>
              <p:tags r:id="rId13"/>
            </p:custDataLst>
          </p:nvPr>
        </p:nvSpPr>
        <p:spPr>
          <a:xfrm>
            <a:off x="1732864" y="5365606"/>
            <a:ext cx="896736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1768" h="723">
                <a:moveTo>
                  <a:pt x="0" y="0"/>
                </a:moveTo>
                <a:lnTo>
                  <a:pt x="1768" y="0"/>
                </a:lnTo>
                <a:lnTo>
                  <a:pt x="1436" y="723"/>
                </a:lnTo>
                <a:lnTo>
                  <a:pt x="332" y="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夜间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4"/>
            </p:custDataLst>
          </p:nvPr>
        </p:nvSpPr>
        <p:spPr>
          <a:xfrm>
            <a:off x="479425" y="476250"/>
            <a:ext cx="367284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569595" y="414655"/>
            <a:ext cx="4663440" cy="713740"/>
            <a:chOff x="350" y="332"/>
            <a:chExt cx="10089" cy="1124"/>
          </a:xfrm>
        </p:grpSpPr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8" name="FLYING IMPRESSION FID FEIZHAO    qq:1964271550"/>
            <p:cNvSpPr txBox="1"/>
            <p:nvPr>
              <p:custDataLst>
                <p:tags r:id="rId16"/>
              </p:custDataLst>
            </p:nvPr>
          </p:nvSpPr>
          <p:spPr>
            <a:xfrm>
              <a:off x="504" y="332"/>
              <a:ext cx="9935" cy="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核心功能界面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介绍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9" name="FLYING IMPRESSION FID FEIZHAO    qq:1964271550"/>
            <p:cNvSpPr txBox="1"/>
            <p:nvPr>
              <p:custDataLst>
                <p:tags r:id="rId17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Introduction to Core Functional Interfaces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0" name="AutoShape 10"/>
          <p:cNvSpPr/>
          <p:nvPr/>
        </p:nvSpPr>
        <p:spPr>
          <a:xfrm>
            <a:off x="4872355" y="534035"/>
            <a:ext cx="838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多维度图表洞察</a:t>
            </a:r>
            <a:endParaRPr lang="en-US" sz="1100"/>
          </a:p>
        </p:txBody>
      </p:sp>
      <p:sp>
        <p:nvSpPr>
          <p:cNvPr id="21" name="AutoShape 11"/>
          <p:cNvSpPr/>
          <p:nvPr/>
        </p:nvSpPr>
        <p:spPr>
          <a:xfrm>
            <a:off x="4727575" y="1340485"/>
            <a:ext cx="838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通过四类核心图表，实现全局趋势与明细数据的实时联动，兼顾宏观概览与微观溯源。</a:t>
            </a:r>
            <a:endParaRPr lang="en-US" sz="1100"/>
          </a:p>
        </p:txBody>
      </p:sp>
      <p:pic>
        <p:nvPicPr>
          <p:cNvPr id="22" name="Picture 12"/>
          <p:cNvPicPr>
            <a:picLocks noChangeAspect="1"/>
          </p:cNvPicPr>
          <p:nvPr/>
        </p:nvPicPr>
        <p:blipFill>
          <a:blip r:embed="rId18"/>
          <a:srcRect t="470" b="470"/>
          <a:stretch>
            <a:fillRect/>
          </a:stretch>
        </p:blipFill>
        <p:spPr>
          <a:xfrm>
            <a:off x="4439920" y="2286000"/>
            <a:ext cx="3211195" cy="15538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  <p:pic>
        <p:nvPicPr>
          <p:cNvPr id="23" name="Picture 13"/>
          <p:cNvPicPr>
            <a:picLocks noChangeAspect="1"/>
          </p:cNvPicPr>
          <p:nvPr/>
        </p:nvPicPr>
        <p:blipFill>
          <a:blip r:embed="rId19"/>
          <a:srcRect t="350" b="350"/>
          <a:stretch>
            <a:fillRect/>
          </a:stretch>
        </p:blipFill>
        <p:spPr>
          <a:xfrm>
            <a:off x="8345805" y="2286000"/>
            <a:ext cx="3211195" cy="15538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  <p:pic>
        <p:nvPicPr>
          <p:cNvPr id="24" name="Picture 14"/>
          <p:cNvPicPr>
            <a:picLocks noChangeAspect="1"/>
          </p:cNvPicPr>
          <p:nvPr/>
        </p:nvPicPr>
        <p:blipFill>
          <a:blip r:embed="rId20"/>
          <a:srcRect t="470" b="470"/>
          <a:stretch>
            <a:fillRect/>
          </a:stretch>
        </p:blipFill>
        <p:spPr>
          <a:xfrm>
            <a:off x="4439920" y="4431030"/>
            <a:ext cx="3211195" cy="15538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  <p:pic>
        <p:nvPicPr>
          <p:cNvPr id="25" name="Picture 15"/>
          <p:cNvPicPr>
            <a:picLocks noChangeAspect="1"/>
          </p:cNvPicPr>
          <p:nvPr/>
        </p:nvPicPr>
        <p:blipFill>
          <a:blip r:embed="rId21"/>
          <a:srcRect t="310" b="310"/>
          <a:stretch>
            <a:fillRect/>
          </a:stretch>
        </p:blipFill>
        <p:spPr>
          <a:xfrm>
            <a:off x="8345805" y="4445000"/>
            <a:ext cx="3211195" cy="15538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>
            <p:custDataLst>
              <p:tags r:id="rId2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左箭头 27"/>
          <p:cNvSpPr/>
          <p:nvPr>
            <p:custDataLst>
              <p:tags r:id="rId3"/>
            </p:custDataLst>
          </p:nvPr>
        </p:nvSpPr>
        <p:spPr>
          <a:xfrm rot="10800000">
            <a:off x="800578" y="3538683"/>
            <a:ext cx="788670" cy="394643"/>
          </a:xfrm>
          <a:prstGeom prst="leftArrow">
            <a:avLst/>
          </a:prstGeom>
          <a:gradFill>
            <a:gsLst>
              <a:gs pos="0">
                <a:srgbClr val="9188E6"/>
              </a:gs>
              <a:gs pos="100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箭头 27"/>
          <p:cNvSpPr/>
          <p:nvPr>
            <p:custDataLst>
              <p:tags r:id="rId4"/>
            </p:custDataLst>
          </p:nvPr>
        </p:nvSpPr>
        <p:spPr>
          <a:xfrm rot="10800000">
            <a:off x="2809966" y="3538682"/>
            <a:ext cx="788670" cy="394643"/>
          </a:xfrm>
          <a:prstGeom prst="leftArrow">
            <a:avLst/>
          </a:prstGeom>
          <a:gradFill>
            <a:gsLst>
              <a:gs pos="100000">
                <a:srgbClr val="9188E6"/>
              </a:gs>
              <a:gs pos="4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形状"/>
          <p:cNvSpPr/>
          <p:nvPr>
            <p:custDataLst>
              <p:tags r:id="rId5"/>
            </p:custDataLst>
          </p:nvPr>
        </p:nvSpPr>
        <p:spPr>
          <a:xfrm flipV="1">
            <a:off x="626072" y="1628800"/>
            <a:ext cx="2766476" cy="1466855"/>
          </a:xfrm>
          <a:custGeom>
            <a:avLst/>
            <a:gdLst>
              <a:gd name="connsiteX0" fmla="*/ 20288 w 21600"/>
              <a:gd name="connsiteY0" fmla="*/ 0 h 21600"/>
              <a:gd name="connsiteX1" fmla="*/ 1577 w 21600"/>
              <a:gd name="connsiteY1" fmla="*/ 11681 h 21600"/>
              <a:gd name="connsiteX2" fmla="*/ 0 w 21600"/>
              <a:gd name="connsiteY2" fmla="*/ 21600 h 21600"/>
              <a:gd name="connsiteX3" fmla="*/ 21600 w 21600"/>
              <a:gd name="connsiteY3" fmla="*/ 8361 h 21600"/>
              <a:gd name="connsiteX4" fmla="*/ 20288 w 21600"/>
              <a:gd name="connsiteY4" fmla="*/ 0 h 21600"/>
              <a:gd name="connsiteX0-1" fmla="*/ 20288 w 23905"/>
              <a:gd name="connsiteY0-2" fmla="*/ 0 h 21600"/>
              <a:gd name="connsiteX1-3" fmla="*/ 1577 w 23905"/>
              <a:gd name="connsiteY1-4" fmla="*/ 11681 h 21600"/>
              <a:gd name="connsiteX2-5" fmla="*/ 0 w 23905"/>
              <a:gd name="connsiteY2-6" fmla="*/ 21600 h 21600"/>
              <a:gd name="connsiteX3-7" fmla="*/ 23905 w 23905"/>
              <a:gd name="connsiteY3-8" fmla="*/ 4585 h 21600"/>
              <a:gd name="connsiteX4-9" fmla="*/ 20288 w 23905"/>
              <a:gd name="connsiteY4-10" fmla="*/ 0 h 21600"/>
              <a:gd name="connsiteX0-11" fmla="*/ 22469 w 23905"/>
              <a:gd name="connsiteY0-12" fmla="*/ 0 h 27044"/>
              <a:gd name="connsiteX1-13" fmla="*/ 1577 w 23905"/>
              <a:gd name="connsiteY1-14" fmla="*/ 17125 h 27044"/>
              <a:gd name="connsiteX2-15" fmla="*/ 0 w 23905"/>
              <a:gd name="connsiteY2-16" fmla="*/ 27044 h 27044"/>
              <a:gd name="connsiteX3-17" fmla="*/ 23905 w 23905"/>
              <a:gd name="connsiteY3-18" fmla="*/ 10029 h 27044"/>
              <a:gd name="connsiteX4-19" fmla="*/ 22469 w 23905"/>
              <a:gd name="connsiteY4-20" fmla="*/ 0 h 270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5" h="27044" extrusionOk="0">
                <a:moveTo>
                  <a:pt x="22469" y="0"/>
                </a:moveTo>
                <a:lnTo>
                  <a:pt x="1577" y="17125"/>
                </a:lnTo>
                <a:lnTo>
                  <a:pt x="0" y="27044"/>
                </a:lnTo>
                <a:lnTo>
                  <a:pt x="23905" y="10029"/>
                </a:lnTo>
                <a:lnTo>
                  <a:pt x="22469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形状"/>
          <p:cNvSpPr/>
          <p:nvPr>
            <p:custDataLst>
              <p:tags r:id="rId6"/>
            </p:custDataLst>
          </p:nvPr>
        </p:nvSpPr>
        <p:spPr>
          <a:xfrm flipV="1">
            <a:off x="865335" y="2563635"/>
            <a:ext cx="2286779" cy="1468120"/>
          </a:xfrm>
          <a:custGeom>
            <a:avLst/>
            <a:gdLst>
              <a:gd name="connsiteX0" fmla="*/ 19955 w 21600"/>
              <a:gd name="connsiteY0" fmla="*/ 0 h 21600"/>
              <a:gd name="connsiteX1" fmla="*/ 1867 w 21600"/>
              <a:gd name="connsiteY1" fmla="*/ 11931 h 21600"/>
              <a:gd name="connsiteX2" fmla="*/ 0 w 21600"/>
              <a:gd name="connsiteY2" fmla="*/ 21600 h 21600"/>
              <a:gd name="connsiteX3" fmla="*/ 21600 w 21600"/>
              <a:gd name="connsiteY3" fmla="*/ 8353 h 21600"/>
              <a:gd name="connsiteX4" fmla="*/ 19955 w 21600"/>
              <a:gd name="connsiteY4" fmla="*/ 0 h 21600"/>
              <a:gd name="connsiteX0-1" fmla="*/ 19955 w 24452"/>
              <a:gd name="connsiteY0-2" fmla="*/ 0 h 21600"/>
              <a:gd name="connsiteX1-3" fmla="*/ 1867 w 24452"/>
              <a:gd name="connsiteY1-4" fmla="*/ 11931 h 21600"/>
              <a:gd name="connsiteX2-5" fmla="*/ 0 w 24452"/>
              <a:gd name="connsiteY2-6" fmla="*/ 21600 h 21600"/>
              <a:gd name="connsiteX3-7" fmla="*/ 24452 w 24452"/>
              <a:gd name="connsiteY3-8" fmla="*/ 4406 h 21600"/>
              <a:gd name="connsiteX4-9" fmla="*/ 19955 w 24452"/>
              <a:gd name="connsiteY4-10" fmla="*/ 0 h 21600"/>
              <a:gd name="connsiteX0-11" fmla="*/ 22705 w 24452"/>
              <a:gd name="connsiteY0-12" fmla="*/ 0 h 27038"/>
              <a:gd name="connsiteX1-13" fmla="*/ 1867 w 24452"/>
              <a:gd name="connsiteY1-14" fmla="*/ 17369 h 27038"/>
              <a:gd name="connsiteX2-15" fmla="*/ 0 w 24452"/>
              <a:gd name="connsiteY2-16" fmla="*/ 27038 h 27038"/>
              <a:gd name="connsiteX3-17" fmla="*/ 24452 w 24452"/>
              <a:gd name="connsiteY3-18" fmla="*/ 9844 h 27038"/>
              <a:gd name="connsiteX4-19" fmla="*/ 22705 w 24452"/>
              <a:gd name="connsiteY4-20" fmla="*/ 0 h 27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52" h="27038" extrusionOk="0">
                <a:moveTo>
                  <a:pt x="22705" y="0"/>
                </a:moveTo>
                <a:lnTo>
                  <a:pt x="1867" y="17369"/>
                </a:lnTo>
                <a:lnTo>
                  <a:pt x="0" y="27038"/>
                </a:lnTo>
                <a:lnTo>
                  <a:pt x="24452" y="9844"/>
                </a:lnTo>
                <a:lnTo>
                  <a:pt x="22705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形状"/>
          <p:cNvSpPr/>
          <p:nvPr>
            <p:custDataLst>
              <p:tags r:id="rId7"/>
            </p:custDataLst>
          </p:nvPr>
        </p:nvSpPr>
        <p:spPr>
          <a:xfrm flipV="1">
            <a:off x="1140768" y="3491483"/>
            <a:ext cx="1685224" cy="1488280"/>
          </a:xfrm>
          <a:custGeom>
            <a:avLst/>
            <a:gdLst>
              <a:gd name="connsiteX0" fmla="*/ 19486 w 21500"/>
              <a:gd name="connsiteY0" fmla="*/ 0 h 21600"/>
              <a:gd name="connsiteX1" fmla="*/ 2129 w 21500"/>
              <a:gd name="connsiteY1" fmla="*/ 13239 h 21600"/>
              <a:gd name="connsiteX2" fmla="*/ 0 w 21500"/>
              <a:gd name="connsiteY2" fmla="*/ 21600 h 21600"/>
              <a:gd name="connsiteX3" fmla="*/ 21500 w 21500"/>
              <a:gd name="connsiteY3" fmla="*/ 4256 h 21600"/>
              <a:gd name="connsiteX4" fmla="*/ 19486 w 21500"/>
              <a:gd name="connsiteY4" fmla="*/ 0 h 21600"/>
              <a:gd name="connsiteX0-1" fmla="*/ 19486 w 21500"/>
              <a:gd name="connsiteY0-2" fmla="*/ 0 h 25595"/>
              <a:gd name="connsiteX1-3" fmla="*/ 2129 w 21500"/>
              <a:gd name="connsiteY1-4" fmla="*/ 17234 h 25595"/>
              <a:gd name="connsiteX2-5" fmla="*/ 0 w 21500"/>
              <a:gd name="connsiteY2-6" fmla="*/ 25595 h 25595"/>
              <a:gd name="connsiteX3-7" fmla="*/ 21500 w 21500"/>
              <a:gd name="connsiteY3-8" fmla="*/ 8251 h 25595"/>
              <a:gd name="connsiteX4-9" fmla="*/ 19486 w 21500"/>
              <a:gd name="connsiteY4-10" fmla="*/ 0 h 25595"/>
              <a:gd name="connsiteX0-11" fmla="*/ 19486 w 21500"/>
              <a:gd name="connsiteY0-12" fmla="*/ 0 h 25595"/>
              <a:gd name="connsiteX1-13" fmla="*/ 2530 w 21500"/>
              <a:gd name="connsiteY1-14" fmla="*/ 15741 h 25595"/>
              <a:gd name="connsiteX2-15" fmla="*/ 0 w 21500"/>
              <a:gd name="connsiteY2-16" fmla="*/ 25595 h 25595"/>
              <a:gd name="connsiteX3-17" fmla="*/ 21500 w 21500"/>
              <a:gd name="connsiteY3-18" fmla="*/ 8251 h 25595"/>
              <a:gd name="connsiteX4-19" fmla="*/ 19486 w 21500"/>
              <a:gd name="connsiteY4-20" fmla="*/ 0 h 25595"/>
              <a:gd name="connsiteX0-21" fmla="*/ 19486 w 23638"/>
              <a:gd name="connsiteY0-22" fmla="*/ 0 h 25595"/>
              <a:gd name="connsiteX1-23" fmla="*/ 2530 w 23638"/>
              <a:gd name="connsiteY1-24" fmla="*/ 15741 h 25595"/>
              <a:gd name="connsiteX2-25" fmla="*/ 0 w 23638"/>
              <a:gd name="connsiteY2-26" fmla="*/ 25595 h 25595"/>
              <a:gd name="connsiteX3-27" fmla="*/ 23638 w 23638"/>
              <a:gd name="connsiteY3-28" fmla="*/ 7988 h 25595"/>
              <a:gd name="connsiteX4-29" fmla="*/ 19486 w 23638"/>
              <a:gd name="connsiteY4-30" fmla="*/ 0 h 25595"/>
              <a:gd name="connsiteX0-31" fmla="*/ 21557 w 23638"/>
              <a:gd name="connsiteY0-32" fmla="*/ 0 h 27439"/>
              <a:gd name="connsiteX1-33" fmla="*/ 2530 w 23638"/>
              <a:gd name="connsiteY1-34" fmla="*/ 17585 h 27439"/>
              <a:gd name="connsiteX2-35" fmla="*/ 0 w 23638"/>
              <a:gd name="connsiteY2-36" fmla="*/ 27439 h 27439"/>
              <a:gd name="connsiteX3-37" fmla="*/ 23638 w 23638"/>
              <a:gd name="connsiteY3-38" fmla="*/ 9832 h 27439"/>
              <a:gd name="connsiteX4-39" fmla="*/ 21557 w 23638"/>
              <a:gd name="connsiteY4-40" fmla="*/ 0 h 274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38" h="27439" extrusionOk="0">
                <a:moveTo>
                  <a:pt x="21557" y="0"/>
                </a:moveTo>
                <a:lnTo>
                  <a:pt x="2530" y="17585"/>
                </a:lnTo>
                <a:lnTo>
                  <a:pt x="0" y="27439"/>
                </a:lnTo>
                <a:lnTo>
                  <a:pt x="23638" y="9832"/>
                </a:lnTo>
                <a:lnTo>
                  <a:pt x="21557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形状"/>
          <p:cNvSpPr/>
          <p:nvPr>
            <p:custDataLst>
              <p:tags r:id="rId8"/>
            </p:custDataLst>
          </p:nvPr>
        </p:nvSpPr>
        <p:spPr>
          <a:xfrm flipV="1">
            <a:off x="1418367" y="4430763"/>
            <a:ext cx="1202677" cy="1482713"/>
          </a:xfrm>
          <a:custGeom>
            <a:avLst/>
            <a:gdLst>
              <a:gd name="connsiteX0" fmla="*/ 19530 w 21600"/>
              <a:gd name="connsiteY0" fmla="*/ 0 h 25879"/>
              <a:gd name="connsiteX1" fmla="*/ 3095 w 21600"/>
              <a:gd name="connsiteY1" fmla="*/ 17583 h 25879"/>
              <a:gd name="connsiteX2" fmla="*/ 0 w 21600"/>
              <a:gd name="connsiteY2" fmla="*/ 25879 h 25879"/>
              <a:gd name="connsiteX3" fmla="*/ 21600 w 21600"/>
              <a:gd name="connsiteY3" fmla="*/ 12709 h 25879"/>
              <a:gd name="connsiteX4" fmla="*/ 19530 w 21600"/>
              <a:gd name="connsiteY4" fmla="*/ 0 h 25879"/>
              <a:gd name="connsiteX0-1" fmla="*/ 19530 w 22377"/>
              <a:gd name="connsiteY0-2" fmla="*/ 0 h 25879"/>
              <a:gd name="connsiteX1-3" fmla="*/ 3095 w 22377"/>
              <a:gd name="connsiteY1-4" fmla="*/ 17583 h 25879"/>
              <a:gd name="connsiteX2-5" fmla="*/ 0 w 22377"/>
              <a:gd name="connsiteY2-6" fmla="*/ 25879 h 25879"/>
              <a:gd name="connsiteX3-7" fmla="*/ 22377 w 22377"/>
              <a:gd name="connsiteY3-8" fmla="*/ 8648 h 25879"/>
              <a:gd name="connsiteX4-9" fmla="*/ 19530 w 22377"/>
              <a:gd name="connsiteY4-10" fmla="*/ 0 h 25879"/>
              <a:gd name="connsiteX0-11" fmla="*/ 19530 w 22377"/>
              <a:gd name="connsiteY0-12" fmla="*/ 0 h 25879"/>
              <a:gd name="connsiteX1-13" fmla="*/ 3580 w 22377"/>
              <a:gd name="connsiteY1-14" fmla="*/ 15749 h 25879"/>
              <a:gd name="connsiteX2-15" fmla="*/ 0 w 22377"/>
              <a:gd name="connsiteY2-16" fmla="*/ 25879 h 25879"/>
              <a:gd name="connsiteX3-17" fmla="*/ 22377 w 22377"/>
              <a:gd name="connsiteY3-18" fmla="*/ 8648 h 25879"/>
              <a:gd name="connsiteX4-19" fmla="*/ 19530 w 22377"/>
              <a:gd name="connsiteY4-20" fmla="*/ 0 h 25879"/>
              <a:gd name="connsiteX0-21" fmla="*/ 19530 w 24512"/>
              <a:gd name="connsiteY0-22" fmla="*/ 0 h 25879"/>
              <a:gd name="connsiteX1-23" fmla="*/ 3580 w 24512"/>
              <a:gd name="connsiteY1-24" fmla="*/ 15749 h 25879"/>
              <a:gd name="connsiteX2-25" fmla="*/ 0 w 24512"/>
              <a:gd name="connsiteY2-26" fmla="*/ 25879 h 25879"/>
              <a:gd name="connsiteX3-27" fmla="*/ 24512 w 24512"/>
              <a:gd name="connsiteY3-28" fmla="*/ 8648 h 25879"/>
              <a:gd name="connsiteX4-29" fmla="*/ 19530 w 24512"/>
              <a:gd name="connsiteY4-30" fmla="*/ 0 h 25879"/>
              <a:gd name="connsiteX0-31" fmla="*/ 21180 w 24512"/>
              <a:gd name="connsiteY0-32" fmla="*/ 0 h 27189"/>
              <a:gd name="connsiteX1-33" fmla="*/ 3580 w 24512"/>
              <a:gd name="connsiteY1-34" fmla="*/ 17059 h 27189"/>
              <a:gd name="connsiteX2-35" fmla="*/ 0 w 24512"/>
              <a:gd name="connsiteY2-36" fmla="*/ 27189 h 27189"/>
              <a:gd name="connsiteX3-37" fmla="*/ 24512 w 24512"/>
              <a:gd name="connsiteY3-38" fmla="*/ 9958 h 27189"/>
              <a:gd name="connsiteX4-39" fmla="*/ 21180 w 24512"/>
              <a:gd name="connsiteY4-40" fmla="*/ 0 h 27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512" h="27189" extrusionOk="0">
                <a:moveTo>
                  <a:pt x="21180" y="0"/>
                </a:moveTo>
                <a:lnTo>
                  <a:pt x="3580" y="17059"/>
                </a:lnTo>
                <a:lnTo>
                  <a:pt x="0" y="27189"/>
                </a:lnTo>
                <a:lnTo>
                  <a:pt x="24512" y="9958"/>
                </a:lnTo>
                <a:lnTo>
                  <a:pt x="21180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5"/>
          <p:cNvSpPr/>
          <p:nvPr>
            <p:custDataLst>
              <p:tags r:id="rId9"/>
            </p:custDataLst>
          </p:nvPr>
        </p:nvSpPr>
        <p:spPr>
          <a:xfrm>
            <a:off x="623392" y="1630595"/>
            <a:ext cx="3049849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5917" h="712">
                <a:moveTo>
                  <a:pt x="0" y="0"/>
                </a:moveTo>
                <a:lnTo>
                  <a:pt x="5917" y="0"/>
                </a:lnTo>
                <a:lnTo>
                  <a:pt x="5591" y="712"/>
                </a:lnTo>
                <a:lnTo>
                  <a:pt x="332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电影总览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页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8" name="任意多边形 6"/>
          <p:cNvSpPr/>
          <p:nvPr>
            <p:custDataLst>
              <p:tags r:id="rId10"/>
            </p:custDataLst>
          </p:nvPr>
        </p:nvSpPr>
        <p:spPr>
          <a:xfrm>
            <a:off x="887112" y="2562374"/>
            <a:ext cx="24997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878" h="715">
                <a:moveTo>
                  <a:pt x="0" y="0"/>
                </a:moveTo>
                <a:lnTo>
                  <a:pt x="4878" y="0"/>
                </a:lnTo>
                <a:lnTo>
                  <a:pt x="4550" y="715"/>
                </a:lnTo>
                <a:lnTo>
                  <a:pt x="325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可视化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分析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9" name="任意多边形 8"/>
          <p:cNvSpPr/>
          <p:nvPr>
            <p:custDataLst>
              <p:tags r:id="rId11"/>
            </p:custDataLst>
          </p:nvPr>
        </p:nvSpPr>
        <p:spPr>
          <a:xfrm>
            <a:off x="1152769" y="3498478"/>
            <a:ext cx="19989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3846" h="715">
                <a:moveTo>
                  <a:pt x="0" y="0"/>
                </a:moveTo>
                <a:lnTo>
                  <a:pt x="3846" y="0"/>
                </a:lnTo>
                <a:lnTo>
                  <a:pt x="3514" y="715"/>
                </a:lnTo>
                <a:lnTo>
                  <a:pt x="328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7000">
                <a:srgbClr val="8F6FFF"/>
              </a:gs>
              <a:gs pos="0">
                <a:srgbClr val="D7E0F7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电影详细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弹窗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0" name="任意多边形 9"/>
          <p:cNvSpPr/>
          <p:nvPr>
            <p:custDataLst>
              <p:tags r:id="rId12"/>
            </p:custDataLst>
          </p:nvPr>
        </p:nvSpPr>
        <p:spPr>
          <a:xfrm>
            <a:off x="1418214" y="4436487"/>
            <a:ext cx="1423215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2806" h="712">
                <a:moveTo>
                  <a:pt x="0" y="0"/>
                </a:moveTo>
                <a:lnTo>
                  <a:pt x="2806" y="0"/>
                </a:lnTo>
                <a:lnTo>
                  <a:pt x="2480" y="712"/>
                </a:lnTo>
                <a:lnTo>
                  <a:pt x="328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智能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助手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1" name="任意多边形 12"/>
          <p:cNvSpPr/>
          <p:nvPr>
            <p:custDataLst>
              <p:tags r:id="rId13"/>
            </p:custDataLst>
          </p:nvPr>
        </p:nvSpPr>
        <p:spPr>
          <a:xfrm>
            <a:off x="1728569" y="5365606"/>
            <a:ext cx="896736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1768" h="723">
                <a:moveTo>
                  <a:pt x="0" y="0"/>
                </a:moveTo>
                <a:lnTo>
                  <a:pt x="1768" y="0"/>
                </a:lnTo>
                <a:lnTo>
                  <a:pt x="1436" y="723"/>
                </a:lnTo>
                <a:lnTo>
                  <a:pt x="332" y="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夜间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4"/>
            </p:custDataLst>
          </p:nvPr>
        </p:nvSpPr>
        <p:spPr>
          <a:xfrm>
            <a:off x="479425" y="476250"/>
            <a:ext cx="367284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569595" y="414655"/>
            <a:ext cx="4663440" cy="713740"/>
            <a:chOff x="350" y="332"/>
            <a:chExt cx="10089" cy="1124"/>
          </a:xfrm>
        </p:grpSpPr>
        <p:sp>
          <p:nvSpPr>
            <p:cNvPr id="34" name="矩形 33"/>
            <p:cNvSpPr/>
            <p:nvPr>
              <p:custDataLst>
                <p:tags r:id="rId15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6" name="FLYING IMPRESSION FID FEIZHAO    qq:1964271550"/>
            <p:cNvSpPr txBox="1"/>
            <p:nvPr>
              <p:custDataLst>
                <p:tags r:id="rId16"/>
              </p:custDataLst>
            </p:nvPr>
          </p:nvSpPr>
          <p:spPr>
            <a:xfrm>
              <a:off x="504" y="332"/>
              <a:ext cx="9935" cy="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核心功能界面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介绍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7" name="FLYING IMPRESSION FID FEIZHAO    qq:1964271550"/>
            <p:cNvSpPr txBox="1"/>
            <p:nvPr>
              <p:custDataLst>
                <p:tags r:id="rId17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Introduction to Core Functional Interfaces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38" name="AutoShape 7"/>
          <p:cNvSpPr/>
          <p:nvPr/>
        </p:nvSpPr>
        <p:spPr>
          <a:xfrm>
            <a:off x="3810000" y="762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39" name="AutoShape 8"/>
          <p:cNvSpPr/>
          <p:nvPr/>
        </p:nvSpPr>
        <p:spPr>
          <a:xfrm>
            <a:off x="4799965" y="1128395"/>
            <a:ext cx="6793865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沉浸布局与智能聚合</a:t>
            </a:r>
            <a:endParaRPr lang="en-US" sz="11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chemeClr val="bg2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双层布局，背景海报高斯模糊叠加蒙版营造影院氛围，前景高通透卡片承载核心信息，形成清晰视觉层级。集成片名、评分、AI翻译简介等多维信息，智能处理票房数据，无记录时自动展示“暂无票房”，保障信息完整性。</a:t>
            </a:r>
            <a:endParaRPr lang="en-US" sz="1400" b="0" i="0" u="none" strike="noStrike">
              <a:solidFill>
                <a:schemeClr val="bg2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1" i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轻量交互词云</a:t>
            </a:r>
            <a:endParaRPr lang="en-US" sz="1600" b="1" i="0" u="none" strike="noStrike">
              <a:solidFill>
                <a:schemeClr val="accent6">
                  <a:lumMod val="60000"/>
                  <a:lumOff val="4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chemeClr val="bg2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纯CSS实现词云效果，提取简介关键词并随机分配字号与配色，支持自动换行与悬停交互，无需第三方依赖，实现毫秒级渲染。</a:t>
            </a:r>
            <a:endParaRPr lang="en-US" sz="1400" b="0" i="0" u="none" strike="noStrike">
              <a:solidFill>
                <a:schemeClr val="bg2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0" name="Picture 9"/>
          <p:cNvPicPr>
            <a:picLocks noChangeAspect="1"/>
          </p:cNvPicPr>
          <p:nvPr/>
        </p:nvPicPr>
        <p:blipFill>
          <a:blip r:embed="rId18"/>
          <a:srcRect l="11768" t="11228" r="5770" b="12983"/>
          <a:stretch>
            <a:fillRect/>
          </a:stretch>
        </p:blipFill>
        <p:spPr>
          <a:xfrm>
            <a:off x="4819015" y="3429000"/>
            <a:ext cx="6667500" cy="297688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>
            <p:custDataLst>
              <p:tags r:id="rId2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左箭头 27"/>
          <p:cNvSpPr/>
          <p:nvPr>
            <p:custDataLst>
              <p:tags r:id="rId3"/>
            </p:custDataLst>
          </p:nvPr>
        </p:nvSpPr>
        <p:spPr>
          <a:xfrm rot="10800000">
            <a:off x="1016601" y="4474787"/>
            <a:ext cx="788670" cy="394643"/>
          </a:xfrm>
          <a:prstGeom prst="leftArrow">
            <a:avLst/>
          </a:prstGeom>
          <a:gradFill>
            <a:gsLst>
              <a:gs pos="0">
                <a:srgbClr val="9188E6"/>
              </a:gs>
              <a:gs pos="100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左箭头 27"/>
          <p:cNvSpPr/>
          <p:nvPr>
            <p:custDataLst>
              <p:tags r:id="rId4"/>
            </p:custDataLst>
          </p:nvPr>
        </p:nvSpPr>
        <p:spPr>
          <a:xfrm rot="10800000">
            <a:off x="2544500" y="4474786"/>
            <a:ext cx="788670" cy="394643"/>
          </a:xfrm>
          <a:prstGeom prst="leftArrow">
            <a:avLst/>
          </a:prstGeom>
          <a:gradFill>
            <a:gsLst>
              <a:gs pos="100000">
                <a:srgbClr val="9188E6"/>
              </a:gs>
              <a:gs pos="4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形状"/>
          <p:cNvSpPr/>
          <p:nvPr>
            <p:custDataLst>
              <p:tags r:id="rId5"/>
            </p:custDataLst>
          </p:nvPr>
        </p:nvSpPr>
        <p:spPr>
          <a:xfrm flipV="1">
            <a:off x="626072" y="1628800"/>
            <a:ext cx="2766476" cy="1466855"/>
          </a:xfrm>
          <a:custGeom>
            <a:avLst/>
            <a:gdLst>
              <a:gd name="connsiteX0" fmla="*/ 20288 w 21600"/>
              <a:gd name="connsiteY0" fmla="*/ 0 h 21600"/>
              <a:gd name="connsiteX1" fmla="*/ 1577 w 21600"/>
              <a:gd name="connsiteY1" fmla="*/ 11681 h 21600"/>
              <a:gd name="connsiteX2" fmla="*/ 0 w 21600"/>
              <a:gd name="connsiteY2" fmla="*/ 21600 h 21600"/>
              <a:gd name="connsiteX3" fmla="*/ 21600 w 21600"/>
              <a:gd name="connsiteY3" fmla="*/ 8361 h 21600"/>
              <a:gd name="connsiteX4" fmla="*/ 20288 w 21600"/>
              <a:gd name="connsiteY4" fmla="*/ 0 h 21600"/>
              <a:gd name="connsiteX0-1" fmla="*/ 20288 w 23905"/>
              <a:gd name="connsiteY0-2" fmla="*/ 0 h 21600"/>
              <a:gd name="connsiteX1-3" fmla="*/ 1577 w 23905"/>
              <a:gd name="connsiteY1-4" fmla="*/ 11681 h 21600"/>
              <a:gd name="connsiteX2-5" fmla="*/ 0 w 23905"/>
              <a:gd name="connsiteY2-6" fmla="*/ 21600 h 21600"/>
              <a:gd name="connsiteX3-7" fmla="*/ 23905 w 23905"/>
              <a:gd name="connsiteY3-8" fmla="*/ 4585 h 21600"/>
              <a:gd name="connsiteX4-9" fmla="*/ 20288 w 23905"/>
              <a:gd name="connsiteY4-10" fmla="*/ 0 h 21600"/>
              <a:gd name="connsiteX0-11" fmla="*/ 22469 w 23905"/>
              <a:gd name="connsiteY0-12" fmla="*/ 0 h 27044"/>
              <a:gd name="connsiteX1-13" fmla="*/ 1577 w 23905"/>
              <a:gd name="connsiteY1-14" fmla="*/ 17125 h 27044"/>
              <a:gd name="connsiteX2-15" fmla="*/ 0 w 23905"/>
              <a:gd name="connsiteY2-16" fmla="*/ 27044 h 27044"/>
              <a:gd name="connsiteX3-17" fmla="*/ 23905 w 23905"/>
              <a:gd name="connsiteY3-18" fmla="*/ 10029 h 27044"/>
              <a:gd name="connsiteX4-19" fmla="*/ 22469 w 23905"/>
              <a:gd name="connsiteY4-20" fmla="*/ 0 h 270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5" h="27044" extrusionOk="0">
                <a:moveTo>
                  <a:pt x="22469" y="0"/>
                </a:moveTo>
                <a:lnTo>
                  <a:pt x="1577" y="17125"/>
                </a:lnTo>
                <a:lnTo>
                  <a:pt x="0" y="27044"/>
                </a:lnTo>
                <a:lnTo>
                  <a:pt x="23905" y="10029"/>
                </a:lnTo>
                <a:lnTo>
                  <a:pt x="22469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形状"/>
          <p:cNvSpPr/>
          <p:nvPr>
            <p:custDataLst>
              <p:tags r:id="rId6"/>
            </p:custDataLst>
          </p:nvPr>
        </p:nvSpPr>
        <p:spPr>
          <a:xfrm flipV="1">
            <a:off x="865335" y="2563635"/>
            <a:ext cx="2286779" cy="1468120"/>
          </a:xfrm>
          <a:custGeom>
            <a:avLst/>
            <a:gdLst>
              <a:gd name="connsiteX0" fmla="*/ 19955 w 21600"/>
              <a:gd name="connsiteY0" fmla="*/ 0 h 21600"/>
              <a:gd name="connsiteX1" fmla="*/ 1867 w 21600"/>
              <a:gd name="connsiteY1" fmla="*/ 11931 h 21600"/>
              <a:gd name="connsiteX2" fmla="*/ 0 w 21600"/>
              <a:gd name="connsiteY2" fmla="*/ 21600 h 21600"/>
              <a:gd name="connsiteX3" fmla="*/ 21600 w 21600"/>
              <a:gd name="connsiteY3" fmla="*/ 8353 h 21600"/>
              <a:gd name="connsiteX4" fmla="*/ 19955 w 21600"/>
              <a:gd name="connsiteY4" fmla="*/ 0 h 21600"/>
              <a:gd name="connsiteX0-1" fmla="*/ 19955 w 24452"/>
              <a:gd name="connsiteY0-2" fmla="*/ 0 h 21600"/>
              <a:gd name="connsiteX1-3" fmla="*/ 1867 w 24452"/>
              <a:gd name="connsiteY1-4" fmla="*/ 11931 h 21600"/>
              <a:gd name="connsiteX2-5" fmla="*/ 0 w 24452"/>
              <a:gd name="connsiteY2-6" fmla="*/ 21600 h 21600"/>
              <a:gd name="connsiteX3-7" fmla="*/ 24452 w 24452"/>
              <a:gd name="connsiteY3-8" fmla="*/ 4406 h 21600"/>
              <a:gd name="connsiteX4-9" fmla="*/ 19955 w 24452"/>
              <a:gd name="connsiteY4-10" fmla="*/ 0 h 21600"/>
              <a:gd name="connsiteX0-11" fmla="*/ 22705 w 24452"/>
              <a:gd name="connsiteY0-12" fmla="*/ 0 h 27038"/>
              <a:gd name="connsiteX1-13" fmla="*/ 1867 w 24452"/>
              <a:gd name="connsiteY1-14" fmla="*/ 17369 h 27038"/>
              <a:gd name="connsiteX2-15" fmla="*/ 0 w 24452"/>
              <a:gd name="connsiteY2-16" fmla="*/ 27038 h 27038"/>
              <a:gd name="connsiteX3-17" fmla="*/ 24452 w 24452"/>
              <a:gd name="connsiteY3-18" fmla="*/ 9844 h 27038"/>
              <a:gd name="connsiteX4-19" fmla="*/ 22705 w 24452"/>
              <a:gd name="connsiteY4-20" fmla="*/ 0 h 27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52" h="27038" extrusionOk="0">
                <a:moveTo>
                  <a:pt x="22705" y="0"/>
                </a:moveTo>
                <a:lnTo>
                  <a:pt x="1867" y="17369"/>
                </a:lnTo>
                <a:lnTo>
                  <a:pt x="0" y="27038"/>
                </a:lnTo>
                <a:lnTo>
                  <a:pt x="24452" y="9844"/>
                </a:lnTo>
                <a:lnTo>
                  <a:pt x="22705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形状"/>
          <p:cNvSpPr/>
          <p:nvPr>
            <p:custDataLst>
              <p:tags r:id="rId7"/>
            </p:custDataLst>
          </p:nvPr>
        </p:nvSpPr>
        <p:spPr>
          <a:xfrm flipV="1">
            <a:off x="1140768" y="3491483"/>
            <a:ext cx="1685224" cy="1488280"/>
          </a:xfrm>
          <a:custGeom>
            <a:avLst/>
            <a:gdLst>
              <a:gd name="connsiteX0" fmla="*/ 19486 w 21500"/>
              <a:gd name="connsiteY0" fmla="*/ 0 h 21600"/>
              <a:gd name="connsiteX1" fmla="*/ 2129 w 21500"/>
              <a:gd name="connsiteY1" fmla="*/ 13239 h 21600"/>
              <a:gd name="connsiteX2" fmla="*/ 0 w 21500"/>
              <a:gd name="connsiteY2" fmla="*/ 21600 h 21600"/>
              <a:gd name="connsiteX3" fmla="*/ 21500 w 21500"/>
              <a:gd name="connsiteY3" fmla="*/ 4256 h 21600"/>
              <a:gd name="connsiteX4" fmla="*/ 19486 w 21500"/>
              <a:gd name="connsiteY4" fmla="*/ 0 h 21600"/>
              <a:gd name="connsiteX0-1" fmla="*/ 19486 w 21500"/>
              <a:gd name="connsiteY0-2" fmla="*/ 0 h 25595"/>
              <a:gd name="connsiteX1-3" fmla="*/ 2129 w 21500"/>
              <a:gd name="connsiteY1-4" fmla="*/ 17234 h 25595"/>
              <a:gd name="connsiteX2-5" fmla="*/ 0 w 21500"/>
              <a:gd name="connsiteY2-6" fmla="*/ 25595 h 25595"/>
              <a:gd name="connsiteX3-7" fmla="*/ 21500 w 21500"/>
              <a:gd name="connsiteY3-8" fmla="*/ 8251 h 25595"/>
              <a:gd name="connsiteX4-9" fmla="*/ 19486 w 21500"/>
              <a:gd name="connsiteY4-10" fmla="*/ 0 h 25595"/>
              <a:gd name="connsiteX0-11" fmla="*/ 19486 w 21500"/>
              <a:gd name="connsiteY0-12" fmla="*/ 0 h 25595"/>
              <a:gd name="connsiteX1-13" fmla="*/ 2530 w 21500"/>
              <a:gd name="connsiteY1-14" fmla="*/ 15741 h 25595"/>
              <a:gd name="connsiteX2-15" fmla="*/ 0 w 21500"/>
              <a:gd name="connsiteY2-16" fmla="*/ 25595 h 25595"/>
              <a:gd name="connsiteX3-17" fmla="*/ 21500 w 21500"/>
              <a:gd name="connsiteY3-18" fmla="*/ 8251 h 25595"/>
              <a:gd name="connsiteX4-19" fmla="*/ 19486 w 21500"/>
              <a:gd name="connsiteY4-20" fmla="*/ 0 h 25595"/>
              <a:gd name="connsiteX0-21" fmla="*/ 19486 w 23638"/>
              <a:gd name="connsiteY0-22" fmla="*/ 0 h 25595"/>
              <a:gd name="connsiteX1-23" fmla="*/ 2530 w 23638"/>
              <a:gd name="connsiteY1-24" fmla="*/ 15741 h 25595"/>
              <a:gd name="connsiteX2-25" fmla="*/ 0 w 23638"/>
              <a:gd name="connsiteY2-26" fmla="*/ 25595 h 25595"/>
              <a:gd name="connsiteX3-27" fmla="*/ 23638 w 23638"/>
              <a:gd name="connsiteY3-28" fmla="*/ 7988 h 25595"/>
              <a:gd name="connsiteX4-29" fmla="*/ 19486 w 23638"/>
              <a:gd name="connsiteY4-30" fmla="*/ 0 h 25595"/>
              <a:gd name="connsiteX0-31" fmla="*/ 21557 w 23638"/>
              <a:gd name="connsiteY0-32" fmla="*/ 0 h 27439"/>
              <a:gd name="connsiteX1-33" fmla="*/ 2530 w 23638"/>
              <a:gd name="connsiteY1-34" fmla="*/ 17585 h 27439"/>
              <a:gd name="connsiteX2-35" fmla="*/ 0 w 23638"/>
              <a:gd name="connsiteY2-36" fmla="*/ 27439 h 27439"/>
              <a:gd name="connsiteX3-37" fmla="*/ 23638 w 23638"/>
              <a:gd name="connsiteY3-38" fmla="*/ 9832 h 27439"/>
              <a:gd name="connsiteX4-39" fmla="*/ 21557 w 23638"/>
              <a:gd name="connsiteY4-40" fmla="*/ 0 h 274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38" h="27439" extrusionOk="0">
                <a:moveTo>
                  <a:pt x="21557" y="0"/>
                </a:moveTo>
                <a:lnTo>
                  <a:pt x="2530" y="17585"/>
                </a:lnTo>
                <a:lnTo>
                  <a:pt x="0" y="27439"/>
                </a:lnTo>
                <a:lnTo>
                  <a:pt x="23638" y="9832"/>
                </a:lnTo>
                <a:lnTo>
                  <a:pt x="21557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形状"/>
          <p:cNvSpPr/>
          <p:nvPr>
            <p:custDataLst>
              <p:tags r:id="rId8"/>
            </p:custDataLst>
          </p:nvPr>
        </p:nvSpPr>
        <p:spPr>
          <a:xfrm flipV="1">
            <a:off x="1418367" y="4430763"/>
            <a:ext cx="1202677" cy="1482713"/>
          </a:xfrm>
          <a:custGeom>
            <a:avLst/>
            <a:gdLst>
              <a:gd name="connsiteX0" fmla="*/ 19530 w 21600"/>
              <a:gd name="connsiteY0" fmla="*/ 0 h 25879"/>
              <a:gd name="connsiteX1" fmla="*/ 3095 w 21600"/>
              <a:gd name="connsiteY1" fmla="*/ 17583 h 25879"/>
              <a:gd name="connsiteX2" fmla="*/ 0 w 21600"/>
              <a:gd name="connsiteY2" fmla="*/ 25879 h 25879"/>
              <a:gd name="connsiteX3" fmla="*/ 21600 w 21600"/>
              <a:gd name="connsiteY3" fmla="*/ 12709 h 25879"/>
              <a:gd name="connsiteX4" fmla="*/ 19530 w 21600"/>
              <a:gd name="connsiteY4" fmla="*/ 0 h 25879"/>
              <a:gd name="connsiteX0-1" fmla="*/ 19530 w 22377"/>
              <a:gd name="connsiteY0-2" fmla="*/ 0 h 25879"/>
              <a:gd name="connsiteX1-3" fmla="*/ 3095 w 22377"/>
              <a:gd name="connsiteY1-4" fmla="*/ 17583 h 25879"/>
              <a:gd name="connsiteX2-5" fmla="*/ 0 w 22377"/>
              <a:gd name="connsiteY2-6" fmla="*/ 25879 h 25879"/>
              <a:gd name="connsiteX3-7" fmla="*/ 22377 w 22377"/>
              <a:gd name="connsiteY3-8" fmla="*/ 8648 h 25879"/>
              <a:gd name="connsiteX4-9" fmla="*/ 19530 w 22377"/>
              <a:gd name="connsiteY4-10" fmla="*/ 0 h 25879"/>
              <a:gd name="connsiteX0-11" fmla="*/ 19530 w 22377"/>
              <a:gd name="connsiteY0-12" fmla="*/ 0 h 25879"/>
              <a:gd name="connsiteX1-13" fmla="*/ 3580 w 22377"/>
              <a:gd name="connsiteY1-14" fmla="*/ 15749 h 25879"/>
              <a:gd name="connsiteX2-15" fmla="*/ 0 w 22377"/>
              <a:gd name="connsiteY2-16" fmla="*/ 25879 h 25879"/>
              <a:gd name="connsiteX3-17" fmla="*/ 22377 w 22377"/>
              <a:gd name="connsiteY3-18" fmla="*/ 8648 h 25879"/>
              <a:gd name="connsiteX4-19" fmla="*/ 19530 w 22377"/>
              <a:gd name="connsiteY4-20" fmla="*/ 0 h 25879"/>
              <a:gd name="connsiteX0-21" fmla="*/ 19530 w 24512"/>
              <a:gd name="connsiteY0-22" fmla="*/ 0 h 25879"/>
              <a:gd name="connsiteX1-23" fmla="*/ 3580 w 24512"/>
              <a:gd name="connsiteY1-24" fmla="*/ 15749 h 25879"/>
              <a:gd name="connsiteX2-25" fmla="*/ 0 w 24512"/>
              <a:gd name="connsiteY2-26" fmla="*/ 25879 h 25879"/>
              <a:gd name="connsiteX3-27" fmla="*/ 24512 w 24512"/>
              <a:gd name="connsiteY3-28" fmla="*/ 8648 h 25879"/>
              <a:gd name="connsiteX4-29" fmla="*/ 19530 w 24512"/>
              <a:gd name="connsiteY4-30" fmla="*/ 0 h 25879"/>
              <a:gd name="connsiteX0-31" fmla="*/ 21180 w 24512"/>
              <a:gd name="connsiteY0-32" fmla="*/ 0 h 27189"/>
              <a:gd name="connsiteX1-33" fmla="*/ 3580 w 24512"/>
              <a:gd name="connsiteY1-34" fmla="*/ 17059 h 27189"/>
              <a:gd name="connsiteX2-35" fmla="*/ 0 w 24512"/>
              <a:gd name="connsiteY2-36" fmla="*/ 27189 h 27189"/>
              <a:gd name="connsiteX3-37" fmla="*/ 24512 w 24512"/>
              <a:gd name="connsiteY3-38" fmla="*/ 9958 h 27189"/>
              <a:gd name="connsiteX4-39" fmla="*/ 21180 w 24512"/>
              <a:gd name="connsiteY4-40" fmla="*/ 0 h 27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512" h="27189" extrusionOk="0">
                <a:moveTo>
                  <a:pt x="21180" y="0"/>
                </a:moveTo>
                <a:lnTo>
                  <a:pt x="3580" y="17059"/>
                </a:lnTo>
                <a:lnTo>
                  <a:pt x="0" y="27189"/>
                </a:lnTo>
                <a:lnTo>
                  <a:pt x="24512" y="9958"/>
                </a:lnTo>
                <a:lnTo>
                  <a:pt x="21180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5"/>
          <p:cNvSpPr/>
          <p:nvPr>
            <p:custDataLst>
              <p:tags r:id="rId9"/>
            </p:custDataLst>
          </p:nvPr>
        </p:nvSpPr>
        <p:spPr>
          <a:xfrm>
            <a:off x="623392" y="1630595"/>
            <a:ext cx="3049849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5917" h="712">
                <a:moveTo>
                  <a:pt x="0" y="0"/>
                </a:moveTo>
                <a:lnTo>
                  <a:pt x="5917" y="0"/>
                </a:lnTo>
                <a:lnTo>
                  <a:pt x="5591" y="712"/>
                </a:lnTo>
                <a:lnTo>
                  <a:pt x="332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电影总览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页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5" name="任意多边形 6"/>
          <p:cNvSpPr/>
          <p:nvPr>
            <p:custDataLst>
              <p:tags r:id="rId10"/>
            </p:custDataLst>
          </p:nvPr>
        </p:nvSpPr>
        <p:spPr>
          <a:xfrm>
            <a:off x="887112" y="2562374"/>
            <a:ext cx="24997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878" h="715">
                <a:moveTo>
                  <a:pt x="0" y="0"/>
                </a:moveTo>
                <a:lnTo>
                  <a:pt x="4878" y="0"/>
                </a:lnTo>
                <a:lnTo>
                  <a:pt x="4550" y="715"/>
                </a:lnTo>
                <a:lnTo>
                  <a:pt x="325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可视化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分析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8" name="任意多边形 8"/>
          <p:cNvSpPr/>
          <p:nvPr>
            <p:custDataLst>
              <p:tags r:id="rId11"/>
            </p:custDataLst>
          </p:nvPr>
        </p:nvSpPr>
        <p:spPr>
          <a:xfrm>
            <a:off x="1152769" y="3498478"/>
            <a:ext cx="19989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3846" h="715">
                <a:moveTo>
                  <a:pt x="0" y="0"/>
                </a:moveTo>
                <a:lnTo>
                  <a:pt x="3846" y="0"/>
                </a:lnTo>
                <a:lnTo>
                  <a:pt x="3514" y="715"/>
                </a:lnTo>
                <a:lnTo>
                  <a:pt x="328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电影详细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弹窗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9" name="任意多边形 9"/>
          <p:cNvSpPr/>
          <p:nvPr>
            <p:custDataLst>
              <p:tags r:id="rId12"/>
            </p:custDataLst>
          </p:nvPr>
        </p:nvSpPr>
        <p:spPr>
          <a:xfrm>
            <a:off x="1303655" y="4436745"/>
            <a:ext cx="1662430" cy="53975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2806" h="712">
                <a:moveTo>
                  <a:pt x="0" y="0"/>
                </a:moveTo>
                <a:lnTo>
                  <a:pt x="2806" y="0"/>
                </a:lnTo>
                <a:lnTo>
                  <a:pt x="2480" y="712"/>
                </a:lnTo>
                <a:lnTo>
                  <a:pt x="328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7000">
                <a:srgbClr val="8F6FFF"/>
              </a:gs>
              <a:gs pos="0">
                <a:srgbClr val="D7E0F7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AI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智能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助手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0" name="任意多边形 12"/>
          <p:cNvSpPr/>
          <p:nvPr>
            <p:custDataLst>
              <p:tags r:id="rId13"/>
            </p:custDataLst>
          </p:nvPr>
        </p:nvSpPr>
        <p:spPr>
          <a:xfrm>
            <a:off x="1728569" y="5365606"/>
            <a:ext cx="896736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1768" h="723">
                <a:moveTo>
                  <a:pt x="0" y="0"/>
                </a:moveTo>
                <a:lnTo>
                  <a:pt x="1768" y="0"/>
                </a:lnTo>
                <a:lnTo>
                  <a:pt x="1436" y="723"/>
                </a:lnTo>
                <a:lnTo>
                  <a:pt x="332" y="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夜间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4"/>
            </p:custDataLst>
          </p:nvPr>
        </p:nvSpPr>
        <p:spPr>
          <a:xfrm>
            <a:off x="479425" y="476250"/>
            <a:ext cx="367284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569595" y="414655"/>
            <a:ext cx="4663440" cy="713740"/>
            <a:chOff x="350" y="332"/>
            <a:chExt cx="10089" cy="1124"/>
          </a:xfrm>
        </p:grpSpPr>
        <p:sp>
          <p:nvSpPr>
            <p:cNvPr id="30" name="矩形 29"/>
            <p:cNvSpPr/>
            <p:nvPr>
              <p:custDataLst>
                <p:tags r:id="rId15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1" name="FLYING IMPRESSION FID FEIZHAO    qq:1964271550"/>
            <p:cNvSpPr txBox="1"/>
            <p:nvPr>
              <p:custDataLst>
                <p:tags r:id="rId16"/>
              </p:custDataLst>
            </p:nvPr>
          </p:nvSpPr>
          <p:spPr>
            <a:xfrm>
              <a:off x="504" y="332"/>
              <a:ext cx="9935" cy="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核心功能界面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介绍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3" name="FLYING IMPRESSION FID FEIZHAO    qq:1964271550"/>
            <p:cNvSpPr txBox="1"/>
            <p:nvPr>
              <p:custDataLst>
                <p:tags r:id="rId17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Introduction to Core Functional Interfaces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34" name="Picture 10"/>
          <p:cNvPicPr>
            <a:picLocks noChangeAspect="1"/>
          </p:cNvPicPr>
          <p:nvPr/>
        </p:nvPicPr>
        <p:blipFill>
          <a:blip r:embed="rId18"/>
          <a:srcRect l="11100" t="1843" r="67" b="-1021"/>
          <a:stretch>
            <a:fillRect/>
          </a:stretch>
        </p:blipFill>
        <p:spPr>
          <a:xfrm>
            <a:off x="4944110" y="2924810"/>
            <a:ext cx="6017260" cy="32645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  <p:sp>
        <p:nvSpPr>
          <p:cNvPr id="35" name="文本框 34"/>
          <p:cNvSpPr txBox="1"/>
          <p:nvPr/>
        </p:nvSpPr>
        <p:spPr>
          <a:xfrm>
            <a:off x="4872355" y="872490"/>
            <a:ext cx="6096000" cy="1214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1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自然语言驱动</a:t>
            </a:r>
            <a:r>
              <a:rPr lang="zh-CN" altLang="en-US" sz="1400" b="1">
                <a:solidFill>
                  <a:schemeClr val="accent6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完成数</a:t>
            </a:r>
            <a:r>
              <a: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据检索用户无需手动配置筛选器，像聊天一样输入需求即可自动检索电影。</a:t>
            </a:r>
            <a:endParaRPr lang="en-US" altLang="zh-CN" sz="1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1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端到端全自动调用：</a:t>
            </a:r>
            <a:r>
              <a: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链路从自然语言到</a:t>
            </a:r>
            <a:r>
              <a:rPr lang="en-US" altLang="zh-CN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</a:t>
            </a:r>
            <a:r>
              <a: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查询再到结果渲染，全程自动化，用户零操作。</a:t>
            </a:r>
            <a:endParaRPr lang="en-US" altLang="zh-CN" sz="1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1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模糊推荐与精准筛选双支持</a:t>
            </a:r>
            <a:r>
              <a:rPr lang="zh-CN" altLang="en-US" sz="1400" b="1">
                <a:solidFill>
                  <a:schemeClr val="accent6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既能理解"类似《盗梦空间》"的模糊语义，也能处理"2020年后高分科幻片"的精确条件。</a:t>
            </a:r>
            <a:endParaRPr lang="zh-CN" altLang="en-US" sz="1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>
            <p:custDataLst>
              <p:tags r:id="rId2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>
            <a:off x="479425" y="476250"/>
            <a:ext cx="367284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569595" y="414655"/>
            <a:ext cx="4663440" cy="713740"/>
            <a:chOff x="350" y="332"/>
            <a:chExt cx="10089" cy="1124"/>
          </a:xfrm>
        </p:grpSpPr>
        <p:sp>
          <p:nvSpPr>
            <p:cNvPr id="37" name="矩形 36"/>
            <p:cNvSpPr/>
            <p:nvPr>
              <p:custDataLst>
                <p:tags r:id="rId4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8" name="FLYING IMPRESSION FID FEIZHAO    qq:1964271550"/>
            <p:cNvSpPr txBox="1"/>
            <p:nvPr>
              <p:custDataLst>
                <p:tags r:id="rId5"/>
              </p:custDataLst>
            </p:nvPr>
          </p:nvSpPr>
          <p:spPr>
            <a:xfrm>
              <a:off x="504" y="332"/>
              <a:ext cx="9935" cy="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核心功能界面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介绍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9" name="FLYING IMPRESSION FID FEIZHAO    qq:1964271550"/>
            <p:cNvSpPr txBox="1"/>
            <p:nvPr>
              <p:custDataLst>
                <p:tags r:id="rId6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Introduction to Core Functional Interfaces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1" name="左箭头 27"/>
          <p:cNvSpPr/>
          <p:nvPr>
            <p:custDataLst>
              <p:tags r:id="rId7"/>
            </p:custDataLst>
          </p:nvPr>
        </p:nvSpPr>
        <p:spPr>
          <a:xfrm rot="10800000">
            <a:off x="1016601" y="4474787"/>
            <a:ext cx="788670" cy="394643"/>
          </a:xfrm>
          <a:prstGeom prst="leftArrow">
            <a:avLst/>
          </a:prstGeom>
          <a:gradFill>
            <a:gsLst>
              <a:gs pos="0">
                <a:srgbClr val="9188E6"/>
              </a:gs>
              <a:gs pos="100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左箭头 27"/>
          <p:cNvSpPr/>
          <p:nvPr>
            <p:custDataLst>
              <p:tags r:id="rId8"/>
            </p:custDataLst>
          </p:nvPr>
        </p:nvSpPr>
        <p:spPr>
          <a:xfrm rot="10800000">
            <a:off x="2544500" y="4474786"/>
            <a:ext cx="788670" cy="394643"/>
          </a:xfrm>
          <a:prstGeom prst="leftArrow">
            <a:avLst/>
          </a:prstGeom>
          <a:gradFill>
            <a:gsLst>
              <a:gs pos="100000">
                <a:srgbClr val="9188E6"/>
              </a:gs>
              <a:gs pos="4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形状"/>
          <p:cNvSpPr/>
          <p:nvPr>
            <p:custDataLst>
              <p:tags r:id="rId9"/>
            </p:custDataLst>
          </p:nvPr>
        </p:nvSpPr>
        <p:spPr>
          <a:xfrm flipV="1">
            <a:off x="626072" y="1628800"/>
            <a:ext cx="2766476" cy="1466855"/>
          </a:xfrm>
          <a:custGeom>
            <a:avLst/>
            <a:gdLst>
              <a:gd name="connsiteX0" fmla="*/ 20288 w 21600"/>
              <a:gd name="connsiteY0" fmla="*/ 0 h 21600"/>
              <a:gd name="connsiteX1" fmla="*/ 1577 w 21600"/>
              <a:gd name="connsiteY1" fmla="*/ 11681 h 21600"/>
              <a:gd name="connsiteX2" fmla="*/ 0 w 21600"/>
              <a:gd name="connsiteY2" fmla="*/ 21600 h 21600"/>
              <a:gd name="connsiteX3" fmla="*/ 21600 w 21600"/>
              <a:gd name="connsiteY3" fmla="*/ 8361 h 21600"/>
              <a:gd name="connsiteX4" fmla="*/ 20288 w 21600"/>
              <a:gd name="connsiteY4" fmla="*/ 0 h 21600"/>
              <a:gd name="connsiteX0-1" fmla="*/ 20288 w 23905"/>
              <a:gd name="connsiteY0-2" fmla="*/ 0 h 21600"/>
              <a:gd name="connsiteX1-3" fmla="*/ 1577 w 23905"/>
              <a:gd name="connsiteY1-4" fmla="*/ 11681 h 21600"/>
              <a:gd name="connsiteX2-5" fmla="*/ 0 w 23905"/>
              <a:gd name="connsiteY2-6" fmla="*/ 21600 h 21600"/>
              <a:gd name="connsiteX3-7" fmla="*/ 23905 w 23905"/>
              <a:gd name="connsiteY3-8" fmla="*/ 4585 h 21600"/>
              <a:gd name="connsiteX4-9" fmla="*/ 20288 w 23905"/>
              <a:gd name="connsiteY4-10" fmla="*/ 0 h 21600"/>
              <a:gd name="connsiteX0-11" fmla="*/ 22469 w 23905"/>
              <a:gd name="connsiteY0-12" fmla="*/ 0 h 27044"/>
              <a:gd name="connsiteX1-13" fmla="*/ 1577 w 23905"/>
              <a:gd name="connsiteY1-14" fmla="*/ 17125 h 27044"/>
              <a:gd name="connsiteX2-15" fmla="*/ 0 w 23905"/>
              <a:gd name="connsiteY2-16" fmla="*/ 27044 h 27044"/>
              <a:gd name="connsiteX3-17" fmla="*/ 23905 w 23905"/>
              <a:gd name="connsiteY3-18" fmla="*/ 10029 h 27044"/>
              <a:gd name="connsiteX4-19" fmla="*/ 22469 w 23905"/>
              <a:gd name="connsiteY4-20" fmla="*/ 0 h 270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5" h="27044" extrusionOk="0">
                <a:moveTo>
                  <a:pt x="22469" y="0"/>
                </a:moveTo>
                <a:lnTo>
                  <a:pt x="1577" y="17125"/>
                </a:lnTo>
                <a:lnTo>
                  <a:pt x="0" y="27044"/>
                </a:lnTo>
                <a:lnTo>
                  <a:pt x="23905" y="10029"/>
                </a:lnTo>
                <a:lnTo>
                  <a:pt x="22469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形状"/>
          <p:cNvSpPr/>
          <p:nvPr>
            <p:custDataLst>
              <p:tags r:id="rId10"/>
            </p:custDataLst>
          </p:nvPr>
        </p:nvSpPr>
        <p:spPr>
          <a:xfrm flipV="1">
            <a:off x="865335" y="2563635"/>
            <a:ext cx="2286779" cy="1468120"/>
          </a:xfrm>
          <a:custGeom>
            <a:avLst/>
            <a:gdLst>
              <a:gd name="connsiteX0" fmla="*/ 19955 w 21600"/>
              <a:gd name="connsiteY0" fmla="*/ 0 h 21600"/>
              <a:gd name="connsiteX1" fmla="*/ 1867 w 21600"/>
              <a:gd name="connsiteY1" fmla="*/ 11931 h 21600"/>
              <a:gd name="connsiteX2" fmla="*/ 0 w 21600"/>
              <a:gd name="connsiteY2" fmla="*/ 21600 h 21600"/>
              <a:gd name="connsiteX3" fmla="*/ 21600 w 21600"/>
              <a:gd name="connsiteY3" fmla="*/ 8353 h 21600"/>
              <a:gd name="connsiteX4" fmla="*/ 19955 w 21600"/>
              <a:gd name="connsiteY4" fmla="*/ 0 h 21600"/>
              <a:gd name="connsiteX0-1" fmla="*/ 19955 w 24452"/>
              <a:gd name="connsiteY0-2" fmla="*/ 0 h 21600"/>
              <a:gd name="connsiteX1-3" fmla="*/ 1867 w 24452"/>
              <a:gd name="connsiteY1-4" fmla="*/ 11931 h 21600"/>
              <a:gd name="connsiteX2-5" fmla="*/ 0 w 24452"/>
              <a:gd name="connsiteY2-6" fmla="*/ 21600 h 21600"/>
              <a:gd name="connsiteX3-7" fmla="*/ 24452 w 24452"/>
              <a:gd name="connsiteY3-8" fmla="*/ 4406 h 21600"/>
              <a:gd name="connsiteX4-9" fmla="*/ 19955 w 24452"/>
              <a:gd name="connsiteY4-10" fmla="*/ 0 h 21600"/>
              <a:gd name="connsiteX0-11" fmla="*/ 22705 w 24452"/>
              <a:gd name="connsiteY0-12" fmla="*/ 0 h 27038"/>
              <a:gd name="connsiteX1-13" fmla="*/ 1867 w 24452"/>
              <a:gd name="connsiteY1-14" fmla="*/ 17369 h 27038"/>
              <a:gd name="connsiteX2-15" fmla="*/ 0 w 24452"/>
              <a:gd name="connsiteY2-16" fmla="*/ 27038 h 27038"/>
              <a:gd name="connsiteX3-17" fmla="*/ 24452 w 24452"/>
              <a:gd name="connsiteY3-18" fmla="*/ 9844 h 27038"/>
              <a:gd name="connsiteX4-19" fmla="*/ 22705 w 24452"/>
              <a:gd name="connsiteY4-20" fmla="*/ 0 h 27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52" h="27038" extrusionOk="0">
                <a:moveTo>
                  <a:pt x="22705" y="0"/>
                </a:moveTo>
                <a:lnTo>
                  <a:pt x="1867" y="17369"/>
                </a:lnTo>
                <a:lnTo>
                  <a:pt x="0" y="27038"/>
                </a:lnTo>
                <a:lnTo>
                  <a:pt x="24452" y="9844"/>
                </a:lnTo>
                <a:lnTo>
                  <a:pt x="22705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形状"/>
          <p:cNvSpPr/>
          <p:nvPr>
            <p:custDataLst>
              <p:tags r:id="rId11"/>
            </p:custDataLst>
          </p:nvPr>
        </p:nvSpPr>
        <p:spPr>
          <a:xfrm flipV="1">
            <a:off x="1140768" y="3491483"/>
            <a:ext cx="1685224" cy="1488280"/>
          </a:xfrm>
          <a:custGeom>
            <a:avLst/>
            <a:gdLst>
              <a:gd name="connsiteX0" fmla="*/ 19486 w 21500"/>
              <a:gd name="connsiteY0" fmla="*/ 0 h 21600"/>
              <a:gd name="connsiteX1" fmla="*/ 2129 w 21500"/>
              <a:gd name="connsiteY1" fmla="*/ 13239 h 21600"/>
              <a:gd name="connsiteX2" fmla="*/ 0 w 21500"/>
              <a:gd name="connsiteY2" fmla="*/ 21600 h 21600"/>
              <a:gd name="connsiteX3" fmla="*/ 21500 w 21500"/>
              <a:gd name="connsiteY3" fmla="*/ 4256 h 21600"/>
              <a:gd name="connsiteX4" fmla="*/ 19486 w 21500"/>
              <a:gd name="connsiteY4" fmla="*/ 0 h 21600"/>
              <a:gd name="connsiteX0-1" fmla="*/ 19486 w 21500"/>
              <a:gd name="connsiteY0-2" fmla="*/ 0 h 25595"/>
              <a:gd name="connsiteX1-3" fmla="*/ 2129 w 21500"/>
              <a:gd name="connsiteY1-4" fmla="*/ 17234 h 25595"/>
              <a:gd name="connsiteX2-5" fmla="*/ 0 w 21500"/>
              <a:gd name="connsiteY2-6" fmla="*/ 25595 h 25595"/>
              <a:gd name="connsiteX3-7" fmla="*/ 21500 w 21500"/>
              <a:gd name="connsiteY3-8" fmla="*/ 8251 h 25595"/>
              <a:gd name="connsiteX4-9" fmla="*/ 19486 w 21500"/>
              <a:gd name="connsiteY4-10" fmla="*/ 0 h 25595"/>
              <a:gd name="connsiteX0-11" fmla="*/ 19486 w 21500"/>
              <a:gd name="connsiteY0-12" fmla="*/ 0 h 25595"/>
              <a:gd name="connsiteX1-13" fmla="*/ 2530 w 21500"/>
              <a:gd name="connsiteY1-14" fmla="*/ 15741 h 25595"/>
              <a:gd name="connsiteX2-15" fmla="*/ 0 w 21500"/>
              <a:gd name="connsiteY2-16" fmla="*/ 25595 h 25595"/>
              <a:gd name="connsiteX3-17" fmla="*/ 21500 w 21500"/>
              <a:gd name="connsiteY3-18" fmla="*/ 8251 h 25595"/>
              <a:gd name="connsiteX4-19" fmla="*/ 19486 w 21500"/>
              <a:gd name="connsiteY4-20" fmla="*/ 0 h 25595"/>
              <a:gd name="connsiteX0-21" fmla="*/ 19486 w 23638"/>
              <a:gd name="connsiteY0-22" fmla="*/ 0 h 25595"/>
              <a:gd name="connsiteX1-23" fmla="*/ 2530 w 23638"/>
              <a:gd name="connsiteY1-24" fmla="*/ 15741 h 25595"/>
              <a:gd name="connsiteX2-25" fmla="*/ 0 w 23638"/>
              <a:gd name="connsiteY2-26" fmla="*/ 25595 h 25595"/>
              <a:gd name="connsiteX3-27" fmla="*/ 23638 w 23638"/>
              <a:gd name="connsiteY3-28" fmla="*/ 7988 h 25595"/>
              <a:gd name="connsiteX4-29" fmla="*/ 19486 w 23638"/>
              <a:gd name="connsiteY4-30" fmla="*/ 0 h 25595"/>
              <a:gd name="connsiteX0-31" fmla="*/ 21557 w 23638"/>
              <a:gd name="connsiteY0-32" fmla="*/ 0 h 27439"/>
              <a:gd name="connsiteX1-33" fmla="*/ 2530 w 23638"/>
              <a:gd name="connsiteY1-34" fmla="*/ 17585 h 27439"/>
              <a:gd name="connsiteX2-35" fmla="*/ 0 w 23638"/>
              <a:gd name="connsiteY2-36" fmla="*/ 27439 h 27439"/>
              <a:gd name="connsiteX3-37" fmla="*/ 23638 w 23638"/>
              <a:gd name="connsiteY3-38" fmla="*/ 9832 h 27439"/>
              <a:gd name="connsiteX4-39" fmla="*/ 21557 w 23638"/>
              <a:gd name="connsiteY4-40" fmla="*/ 0 h 274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38" h="27439" extrusionOk="0">
                <a:moveTo>
                  <a:pt x="21557" y="0"/>
                </a:moveTo>
                <a:lnTo>
                  <a:pt x="2530" y="17585"/>
                </a:lnTo>
                <a:lnTo>
                  <a:pt x="0" y="27439"/>
                </a:lnTo>
                <a:lnTo>
                  <a:pt x="23638" y="9832"/>
                </a:lnTo>
                <a:lnTo>
                  <a:pt x="21557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形状"/>
          <p:cNvSpPr/>
          <p:nvPr>
            <p:custDataLst>
              <p:tags r:id="rId12"/>
            </p:custDataLst>
          </p:nvPr>
        </p:nvSpPr>
        <p:spPr>
          <a:xfrm flipV="1">
            <a:off x="1418367" y="4430763"/>
            <a:ext cx="1202677" cy="1482713"/>
          </a:xfrm>
          <a:custGeom>
            <a:avLst/>
            <a:gdLst>
              <a:gd name="connsiteX0" fmla="*/ 19530 w 21600"/>
              <a:gd name="connsiteY0" fmla="*/ 0 h 25879"/>
              <a:gd name="connsiteX1" fmla="*/ 3095 w 21600"/>
              <a:gd name="connsiteY1" fmla="*/ 17583 h 25879"/>
              <a:gd name="connsiteX2" fmla="*/ 0 w 21600"/>
              <a:gd name="connsiteY2" fmla="*/ 25879 h 25879"/>
              <a:gd name="connsiteX3" fmla="*/ 21600 w 21600"/>
              <a:gd name="connsiteY3" fmla="*/ 12709 h 25879"/>
              <a:gd name="connsiteX4" fmla="*/ 19530 w 21600"/>
              <a:gd name="connsiteY4" fmla="*/ 0 h 25879"/>
              <a:gd name="connsiteX0-1" fmla="*/ 19530 w 22377"/>
              <a:gd name="connsiteY0-2" fmla="*/ 0 h 25879"/>
              <a:gd name="connsiteX1-3" fmla="*/ 3095 w 22377"/>
              <a:gd name="connsiteY1-4" fmla="*/ 17583 h 25879"/>
              <a:gd name="connsiteX2-5" fmla="*/ 0 w 22377"/>
              <a:gd name="connsiteY2-6" fmla="*/ 25879 h 25879"/>
              <a:gd name="connsiteX3-7" fmla="*/ 22377 w 22377"/>
              <a:gd name="connsiteY3-8" fmla="*/ 8648 h 25879"/>
              <a:gd name="connsiteX4-9" fmla="*/ 19530 w 22377"/>
              <a:gd name="connsiteY4-10" fmla="*/ 0 h 25879"/>
              <a:gd name="connsiteX0-11" fmla="*/ 19530 w 22377"/>
              <a:gd name="connsiteY0-12" fmla="*/ 0 h 25879"/>
              <a:gd name="connsiteX1-13" fmla="*/ 3580 w 22377"/>
              <a:gd name="connsiteY1-14" fmla="*/ 15749 h 25879"/>
              <a:gd name="connsiteX2-15" fmla="*/ 0 w 22377"/>
              <a:gd name="connsiteY2-16" fmla="*/ 25879 h 25879"/>
              <a:gd name="connsiteX3-17" fmla="*/ 22377 w 22377"/>
              <a:gd name="connsiteY3-18" fmla="*/ 8648 h 25879"/>
              <a:gd name="connsiteX4-19" fmla="*/ 19530 w 22377"/>
              <a:gd name="connsiteY4-20" fmla="*/ 0 h 25879"/>
              <a:gd name="connsiteX0-21" fmla="*/ 19530 w 24512"/>
              <a:gd name="connsiteY0-22" fmla="*/ 0 h 25879"/>
              <a:gd name="connsiteX1-23" fmla="*/ 3580 w 24512"/>
              <a:gd name="connsiteY1-24" fmla="*/ 15749 h 25879"/>
              <a:gd name="connsiteX2-25" fmla="*/ 0 w 24512"/>
              <a:gd name="connsiteY2-26" fmla="*/ 25879 h 25879"/>
              <a:gd name="connsiteX3-27" fmla="*/ 24512 w 24512"/>
              <a:gd name="connsiteY3-28" fmla="*/ 8648 h 25879"/>
              <a:gd name="connsiteX4-29" fmla="*/ 19530 w 24512"/>
              <a:gd name="connsiteY4-30" fmla="*/ 0 h 25879"/>
              <a:gd name="connsiteX0-31" fmla="*/ 21180 w 24512"/>
              <a:gd name="connsiteY0-32" fmla="*/ 0 h 27189"/>
              <a:gd name="connsiteX1-33" fmla="*/ 3580 w 24512"/>
              <a:gd name="connsiteY1-34" fmla="*/ 17059 h 27189"/>
              <a:gd name="connsiteX2-35" fmla="*/ 0 w 24512"/>
              <a:gd name="connsiteY2-36" fmla="*/ 27189 h 27189"/>
              <a:gd name="connsiteX3-37" fmla="*/ 24512 w 24512"/>
              <a:gd name="connsiteY3-38" fmla="*/ 9958 h 27189"/>
              <a:gd name="connsiteX4-39" fmla="*/ 21180 w 24512"/>
              <a:gd name="connsiteY4-40" fmla="*/ 0 h 27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512" h="27189" extrusionOk="0">
                <a:moveTo>
                  <a:pt x="21180" y="0"/>
                </a:moveTo>
                <a:lnTo>
                  <a:pt x="3580" y="17059"/>
                </a:lnTo>
                <a:lnTo>
                  <a:pt x="0" y="27189"/>
                </a:lnTo>
                <a:lnTo>
                  <a:pt x="24512" y="9958"/>
                </a:lnTo>
                <a:lnTo>
                  <a:pt x="21180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任意多边形 5"/>
          <p:cNvSpPr/>
          <p:nvPr>
            <p:custDataLst>
              <p:tags r:id="rId13"/>
            </p:custDataLst>
          </p:nvPr>
        </p:nvSpPr>
        <p:spPr>
          <a:xfrm>
            <a:off x="623392" y="1630595"/>
            <a:ext cx="3049849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5917" h="712">
                <a:moveTo>
                  <a:pt x="0" y="0"/>
                </a:moveTo>
                <a:lnTo>
                  <a:pt x="5917" y="0"/>
                </a:lnTo>
                <a:lnTo>
                  <a:pt x="5591" y="712"/>
                </a:lnTo>
                <a:lnTo>
                  <a:pt x="332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电影总览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页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9" name="任意多边形 6"/>
          <p:cNvSpPr/>
          <p:nvPr>
            <p:custDataLst>
              <p:tags r:id="rId14"/>
            </p:custDataLst>
          </p:nvPr>
        </p:nvSpPr>
        <p:spPr>
          <a:xfrm>
            <a:off x="887112" y="2562374"/>
            <a:ext cx="24997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878" h="715">
                <a:moveTo>
                  <a:pt x="0" y="0"/>
                </a:moveTo>
                <a:lnTo>
                  <a:pt x="4878" y="0"/>
                </a:lnTo>
                <a:lnTo>
                  <a:pt x="4550" y="715"/>
                </a:lnTo>
                <a:lnTo>
                  <a:pt x="325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可视化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分析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0" name="任意多边形 8"/>
          <p:cNvSpPr/>
          <p:nvPr>
            <p:custDataLst>
              <p:tags r:id="rId15"/>
            </p:custDataLst>
          </p:nvPr>
        </p:nvSpPr>
        <p:spPr>
          <a:xfrm>
            <a:off x="1152769" y="3498478"/>
            <a:ext cx="19989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3846" h="715">
                <a:moveTo>
                  <a:pt x="0" y="0"/>
                </a:moveTo>
                <a:lnTo>
                  <a:pt x="3846" y="0"/>
                </a:lnTo>
                <a:lnTo>
                  <a:pt x="3514" y="715"/>
                </a:lnTo>
                <a:lnTo>
                  <a:pt x="328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电影详细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弹窗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1" name="任意多边形 9"/>
          <p:cNvSpPr/>
          <p:nvPr>
            <p:custDataLst>
              <p:tags r:id="rId16"/>
            </p:custDataLst>
          </p:nvPr>
        </p:nvSpPr>
        <p:spPr>
          <a:xfrm>
            <a:off x="1303655" y="4436745"/>
            <a:ext cx="1662430" cy="53975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2806" h="712">
                <a:moveTo>
                  <a:pt x="0" y="0"/>
                </a:moveTo>
                <a:lnTo>
                  <a:pt x="2806" y="0"/>
                </a:lnTo>
                <a:lnTo>
                  <a:pt x="2480" y="712"/>
                </a:lnTo>
                <a:lnTo>
                  <a:pt x="328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7000">
                <a:srgbClr val="8F6FFF"/>
              </a:gs>
              <a:gs pos="0">
                <a:srgbClr val="D7E0F7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AI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智能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助手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2" name="任意多边形 12"/>
          <p:cNvSpPr/>
          <p:nvPr>
            <p:custDataLst>
              <p:tags r:id="rId17"/>
            </p:custDataLst>
          </p:nvPr>
        </p:nvSpPr>
        <p:spPr>
          <a:xfrm>
            <a:off x="1728569" y="5365606"/>
            <a:ext cx="896736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1768" h="723">
                <a:moveTo>
                  <a:pt x="0" y="0"/>
                </a:moveTo>
                <a:lnTo>
                  <a:pt x="1768" y="0"/>
                </a:lnTo>
                <a:lnTo>
                  <a:pt x="1436" y="723"/>
                </a:lnTo>
                <a:lnTo>
                  <a:pt x="332" y="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夜间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3" name="AutoShape 3"/>
          <p:cNvSpPr/>
          <p:nvPr/>
        </p:nvSpPr>
        <p:spPr>
          <a:xfrm>
            <a:off x="4944110" y="116205"/>
            <a:ext cx="5827395" cy="311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智能触发：票房预测模式</a:t>
            </a:r>
            <a:r>
              <a:rPr lang="zh-CN" altLang="en-US" sz="1400" b="1" i="0" u="none" strike="noStrike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系统自动识别“预测、票房、投资回报”等关键词，即时唤醒预测引擎，结合历史数据与市场趋势，为影视项目投资提供量化参考。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四维预测模型因子</a:t>
            </a:r>
            <a:r>
              <a:rPr lang="zh-CN" altLang="en-US" sz="1400" b="1" i="0" u="none" strike="noStrike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综合考量题材热度、制作预算、时间增长趋势与市场随机因子，构建科学的票房预测模型，模拟市场不确定性风险。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可视化决策输出</a:t>
            </a:r>
            <a:r>
              <a:rPr lang="zh-CN" altLang="en-US" sz="1400" b="1" i="0" u="none" strike="noStrike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以卡片形式直观展示总预算、预测票房、投资回报率与风险评估，辅助快速决策。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7" name="Picture 4"/>
          <p:cNvPicPr>
            <a:picLocks noChangeAspect="1"/>
          </p:cNvPicPr>
          <p:nvPr/>
        </p:nvPicPr>
        <p:blipFill>
          <a:blip r:embed="rId18"/>
          <a:srcRect l="11314" r="-1112"/>
          <a:stretch>
            <a:fillRect/>
          </a:stretch>
        </p:blipFill>
        <p:spPr>
          <a:xfrm>
            <a:off x="4944110" y="2924810"/>
            <a:ext cx="6017895" cy="326580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>
            <p:custDataLst>
              <p:tags r:id="rId2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左箭头 27"/>
          <p:cNvSpPr/>
          <p:nvPr>
            <p:custDataLst>
              <p:tags r:id="rId3"/>
            </p:custDataLst>
          </p:nvPr>
        </p:nvSpPr>
        <p:spPr>
          <a:xfrm rot="10800000">
            <a:off x="1418898" y="5445224"/>
            <a:ext cx="788670" cy="394643"/>
          </a:xfrm>
          <a:prstGeom prst="leftArrow">
            <a:avLst/>
          </a:prstGeom>
          <a:gradFill>
            <a:gsLst>
              <a:gs pos="0">
                <a:srgbClr val="9188E6"/>
              </a:gs>
              <a:gs pos="100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箭头 27"/>
          <p:cNvSpPr/>
          <p:nvPr>
            <p:custDataLst>
              <p:tags r:id="rId4"/>
            </p:custDataLst>
          </p:nvPr>
        </p:nvSpPr>
        <p:spPr>
          <a:xfrm rot="10800000">
            <a:off x="2223299" y="5460316"/>
            <a:ext cx="788670" cy="394643"/>
          </a:xfrm>
          <a:prstGeom prst="leftArrow">
            <a:avLst/>
          </a:prstGeom>
          <a:gradFill>
            <a:gsLst>
              <a:gs pos="100000">
                <a:srgbClr val="9188E6"/>
              </a:gs>
              <a:gs pos="4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形状"/>
          <p:cNvSpPr/>
          <p:nvPr>
            <p:custDataLst>
              <p:tags r:id="rId5"/>
            </p:custDataLst>
          </p:nvPr>
        </p:nvSpPr>
        <p:spPr>
          <a:xfrm flipV="1">
            <a:off x="626072" y="1628800"/>
            <a:ext cx="2766476" cy="1466855"/>
          </a:xfrm>
          <a:custGeom>
            <a:avLst/>
            <a:gdLst>
              <a:gd name="connsiteX0" fmla="*/ 20288 w 21600"/>
              <a:gd name="connsiteY0" fmla="*/ 0 h 21600"/>
              <a:gd name="connsiteX1" fmla="*/ 1577 w 21600"/>
              <a:gd name="connsiteY1" fmla="*/ 11681 h 21600"/>
              <a:gd name="connsiteX2" fmla="*/ 0 w 21600"/>
              <a:gd name="connsiteY2" fmla="*/ 21600 h 21600"/>
              <a:gd name="connsiteX3" fmla="*/ 21600 w 21600"/>
              <a:gd name="connsiteY3" fmla="*/ 8361 h 21600"/>
              <a:gd name="connsiteX4" fmla="*/ 20288 w 21600"/>
              <a:gd name="connsiteY4" fmla="*/ 0 h 21600"/>
              <a:gd name="connsiteX0-1" fmla="*/ 20288 w 23905"/>
              <a:gd name="connsiteY0-2" fmla="*/ 0 h 21600"/>
              <a:gd name="connsiteX1-3" fmla="*/ 1577 w 23905"/>
              <a:gd name="connsiteY1-4" fmla="*/ 11681 h 21600"/>
              <a:gd name="connsiteX2-5" fmla="*/ 0 w 23905"/>
              <a:gd name="connsiteY2-6" fmla="*/ 21600 h 21600"/>
              <a:gd name="connsiteX3-7" fmla="*/ 23905 w 23905"/>
              <a:gd name="connsiteY3-8" fmla="*/ 4585 h 21600"/>
              <a:gd name="connsiteX4-9" fmla="*/ 20288 w 23905"/>
              <a:gd name="connsiteY4-10" fmla="*/ 0 h 21600"/>
              <a:gd name="connsiteX0-11" fmla="*/ 22469 w 23905"/>
              <a:gd name="connsiteY0-12" fmla="*/ 0 h 27044"/>
              <a:gd name="connsiteX1-13" fmla="*/ 1577 w 23905"/>
              <a:gd name="connsiteY1-14" fmla="*/ 17125 h 27044"/>
              <a:gd name="connsiteX2-15" fmla="*/ 0 w 23905"/>
              <a:gd name="connsiteY2-16" fmla="*/ 27044 h 27044"/>
              <a:gd name="connsiteX3-17" fmla="*/ 23905 w 23905"/>
              <a:gd name="connsiteY3-18" fmla="*/ 10029 h 27044"/>
              <a:gd name="connsiteX4-19" fmla="*/ 22469 w 23905"/>
              <a:gd name="connsiteY4-20" fmla="*/ 0 h 270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5" h="27044" extrusionOk="0">
                <a:moveTo>
                  <a:pt x="22469" y="0"/>
                </a:moveTo>
                <a:lnTo>
                  <a:pt x="1577" y="17125"/>
                </a:lnTo>
                <a:lnTo>
                  <a:pt x="0" y="27044"/>
                </a:lnTo>
                <a:lnTo>
                  <a:pt x="23905" y="10029"/>
                </a:lnTo>
                <a:lnTo>
                  <a:pt x="22469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形状"/>
          <p:cNvSpPr/>
          <p:nvPr>
            <p:custDataLst>
              <p:tags r:id="rId6"/>
            </p:custDataLst>
          </p:nvPr>
        </p:nvSpPr>
        <p:spPr>
          <a:xfrm flipV="1">
            <a:off x="865335" y="2563635"/>
            <a:ext cx="2286779" cy="1468120"/>
          </a:xfrm>
          <a:custGeom>
            <a:avLst/>
            <a:gdLst>
              <a:gd name="connsiteX0" fmla="*/ 19955 w 21600"/>
              <a:gd name="connsiteY0" fmla="*/ 0 h 21600"/>
              <a:gd name="connsiteX1" fmla="*/ 1867 w 21600"/>
              <a:gd name="connsiteY1" fmla="*/ 11931 h 21600"/>
              <a:gd name="connsiteX2" fmla="*/ 0 w 21600"/>
              <a:gd name="connsiteY2" fmla="*/ 21600 h 21600"/>
              <a:gd name="connsiteX3" fmla="*/ 21600 w 21600"/>
              <a:gd name="connsiteY3" fmla="*/ 8353 h 21600"/>
              <a:gd name="connsiteX4" fmla="*/ 19955 w 21600"/>
              <a:gd name="connsiteY4" fmla="*/ 0 h 21600"/>
              <a:gd name="connsiteX0-1" fmla="*/ 19955 w 24452"/>
              <a:gd name="connsiteY0-2" fmla="*/ 0 h 21600"/>
              <a:gd name="connsiteX1-3" fmla="*/ 1867 w 24452"/>
              <a:gd name="connsiteY1-4" fmla="*/ 11931 h 21600"/>
              <a:gd name="connsiteX2-5" fmla="*/ 0 w 24452"/>
              <a:gd name="connsiteY2-6" fmla="*/ 21600 h 21600"/>
              <a:gd name="connsiteX3-7" fmla="*/ 24452 w 24452"/>
              <a:gd name="connsiteY3-8" fmla="*/ 4406 h 21600"/>
              <a:gd name="connsiteX4-9" fmla="*/ 19955 w 24452"/>
              <a:gd name="connsiteY4-10" fmla="*/ 0 h 21600"/>
              <a:gd name="connsiteX0-11" fmla="*/ 22705 w 24452"/>
              <a:gd name="connsiteY0-12" fmla="*/ 0 h 27038"/>
              <a:gd name="connsiteX1-13" fmla="*/ 1867 w 24452"/>
              <a:gd name="connsiteY1-14" fmla="*/ 17369 h 27038"/>
              <a:gd name="connsiteX2-15" fmla="*/ 0 w 24452"/>
              <a:gd name="connsiteY2-16" fmla="*/ 27038 h 27038"/>
              <a:gd name="connsiteX3-17" fmla="*/ 24452 w 24452"/>
              <a:gd name="connsiteY3-18" fmla="*/ 9844 h 27038"/>
              <a:gd name="connsiteX4-19" fmla="*/ 22705 w 24452"/>
              <a:gd name="connsiteY4-20" fmla="*/ 0 h 27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52" h="27038" extrusionOk="0">
                <a:moveTo>
                  <a:pt x="22705" y="0"/>
                </a:moveTo>
                <a:lnTo>
                  <a:pt x="1867" y="17369"/>
                </a:lnTo>
                <a:lnTo>
                  <a:pt x="0" y="27038"/>
                </a:lnTo>
                <a:lnTo>
                  <a:pt x="24452" y="9844"/>
                </a:lnTo>
                <a:lnTo>
                  <a:pt x="22705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形状"/>
          <p:cNvSpPr/>
          <p:nvPr>
            <p:custDataLst>
              <p:tags r:id="rId7"/>
            </p:custDataLst>
          </p:nvPr>
        </p:nvSpPr>
        <p:spPr>
          <a:xfrm flipV="1">
            <a:off x="1140768" y="3491483"/>
            <a:ext cx="1685224" cy="1488280"/>
          </a:xfrm>
          <a:custGeom>
            <a:avLst/>
            <a:gdLst>
              <a:gd name="connsiteX0" fmla="*/ 19486 w 21500"/>
              <a:gd name="connsiteY0" fmla="*/ 0 h 21600"/>
              <a:gd name="connsiteX1" fmla="*/ 2129 w 21500"/>
              <a:gd name="connsiteY1" fmla="*/ 13239 h 21600"/>
              <a:gd name="connsiteX2" fmla="*/ 0 w 21500"/>
              <a:gd name="connsiteY2" fmla="*/ 21600 h 21600"/>
              <a:gd name="connsiteX3" fmla="*/ 21500 w 21500"/>
              <a:gd name="connsiteY3" fmla="*/ 4256 h 21600"/>
              <a:gd name="connsiteX4" fmla="*/ 19486 w 21500"/>
              <a:gd name="connsiteY4" fmla="*/ 0 h 21600"/>
              <a:gd name="connsiteX0-1" fmla="*/ 19486 w 21500"/>
              <a:gd name="connsiteY0-2" fmla="*/ 0 h 25595"/>
              <a:gd name="connsiteX1-3" fmla="*/ 2129 w 21500"/>
              <a:gd name="connsiteY1-4" fmla="*/ 17234 h 25595"/>
              <a:gd name="connsiteX2-5" fmla="*/ 0 w 21500"/>
              <a:gd name="connsiteY2-6" fmla="*/ 25595 h 25595"/>
              <a:gd name="connsiteX3-7" fmla="*/ 21500 w 21500"/>
              <a:gd name="connsiteY3-8" fmla="*/ 8251 h 25595"/>
              <a:gd name="connsiteX4-9" fmla="*/ 19486 w 21500"/>
              <a:gd name="connsiteY4-10" fmla="*/ 0 h 25595"/>
              <a:gd name="connsiteX0-11" fmla="*/ 19486 w 21500"/>
              <a:gd name="connsiteY0-12" fmla="*/ 0 h 25595"/>
              <a:gd name="connsiteX1-13" fmla="*/ 2530 w 21500"/>
              <a:gd name="connsiteY1-14" fmla="*/ 15741 h 25595"/>
              <a:gd name="connsiteX2-15" fmla="*/ 0 w 21500"/>
              <a:gd name="connsiteY2-16" fmla="*/ 25595 h 25595"/>
              <a:gd name="connsiteX3-17" fmla="*/ 21500 w 21500"/>
              <a:gd name="connsiteY3-18" fmla="*/ 8251 h 25595"/>
              <a:gd name="connsiteX4-19" fmla="*/ 19486 w 21500"/>
              <a:gd name="connsiteY4-20" fmla="*/ 0 h 25595"/>
              <a:gd name="connsiteX0-21" fmla="*/ 19486 w 23638"/>
              <a:gd name="connsiteY0-22" fmla="*/ 0 h 25595"/>
              <a:gd name="connsiteX1-23" fmla="*/ 2530 w 23638"/>
              <a:gd name="connsiteY1-24" fmla="*/ 15741 h 25595"/>
              <a:gd name="connsiteX2-25" fmla="*/ 0 w 23638"/>
              <a:gd name="connsiteY2-26" fmla="*/ 25595 h 25595"/>
              <a:gd name="connsiteX3-27" fmla="*/ 23638 w 23638"/>
              <a:gd name="connsiteY3-28" fmla="*/ 7988 h 25595"/>
              <a:gd name="connsiteX4-29" fmla="*/ 19486 w 23638"/>
              <a:gd name="connsiteY4-30" fmla="*/ 0 h 25595"/>
              <a:gd name="connsiteX0-31" fmla="*/ 21557 w 23638"/>
              <a:gd name="connsiteY0-32" fmla="*/ 0 h 27439"/>
              <a:gd name="connsiteX1-33" fmla="*/ 2530 w 23638"/>
              <a:gd name="connsiteY1-34" fmla="*/ 17585 h 27439"/>
              <a:gd name="connsiteX2-35" fmla="*/ 0 w 23638"/>
              <a:gd name="connsiteY2-36" fmla="*/ 27439 h 27439"/>
              <a:gd name="connsiteX3-37" fmla="*/ 23638 w 23638"/>
              <a:gd name="connsiteY3-38" fmla="*/ 9832 h 27439"/>
              <a:gd name="connsiteX4-39" fmla="*/ 21557 w 23638"/>
              <a:gd name="connsiteY4-40" fmla="*/ 0 h 274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638" h="27439" extrusionOk="0">
                <a:moveTo>
                  <a:pt x="21557" y="0"/>
                </a:moveTo>
                <a:lnTo>
                  <a:pt x="2530" y="17585"/>
                </a:lnTo>
                <a:lnTo>
                  <a:pt x="0" y="27439"/>
                </a:lnTo>
                <a:lnTo>
                  <a:pt x="23638" y="9832"/>
                </a:lnTo>
                <a:lnTo>
                  <a:pt x="21557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形状"/>
          <p:cNvSpPr/>
          <p:nvPr>
            <p:custDataLst>
              <p:tags r:id="rId8"/>
            </p:custDataLst>
          </p:nvPr>
        </p:nvSpPr>
        <p:spPr>
          <a:xfrm flipV="1">
            <a:off x="1418367" y="4430763"/>
            <a:ext cx="1202677" cy="1482713"/>
          </a:xfrm>
          <a:custGeom>
            <a:avLst/>
            <a:gdLst>
              <a:gd name="connsiteX0" fmla="*/ 19530 w 21600"/>
              <a:gd name="connsiteY0" fmla="*/ 0 h 25879"/>
              <a:gd name="connsiteX1" fmla="*/ 3095 w 21600"/>
              <a:gd name="connsiteY1" fmla="*/ 17583 h 25879"/>
              <a:gd name="connsiteX2" fmla="*/ 0 w 21600"/>
              <a:gd name="connsiteY2" fmla="*/ 25879 h 25879"/>
              <a:gd name="connsiteX3" fmla="*/ 21600 w 21600"/>
              <a:gd name="connsiteY3" fmla="*/ 12709 h 25879"/>
              <a:gd name="connsiteX4" fmla="*/ 19530 w 21600"/>
              <a:gd name="connsiteY4" fmla="*/ 0 h 25879"/>
              <a:gd name="connsiteX0-1" fmla="*/ 19530 w 22377"/>
              <a:gd name="connsiteY0-2" fmla="*/ 0 h 25879"/>
              <a:gd name="connsiteX1-3" fmla="*/ 3095 w 22377"/>
              <a:gd name="connsiteY1-4" fmla="*/ 17583 h 25879"/>
              <a:gd name="connsiteX2-5" fmla="*/ 0 w 22377"/>
              <a:gd name="connsiteY2-6" fmla="*/ 25879 h 25879"/>
              <a:gd name="connsiteX3-7" fmla="*/ 22377 w 22377"/>
              <a:gd name="connsiteY3-8" fmla="*/ 8648 h 25879"/>
              <a:gd name="connsiteX4-9" fmla="*/ 19530 w 22377"/>
              <a:gd name="connsiteY4-10" fmla="*/ 0 h 25879"/>
              <a:gd name="connsiteX0-11" fmla="*/ 19530 w 22377"/>
              <a:gd name="connsiteY0-12" fmla="*/ 0 h 25879"/>
              <a:gd name="connsiteX1-13" fmla="*/ 3580 w 22377"/>
              <a:gd name="connsiteY1-14" fmla="*/ 15749 h 25879"/>
              <a:gd name="connsiteX2-15" fmla="*/ 0 w 22377"/>
              <a:gd name="connsiteY2-16" fmla="*/ 25879 h 25879"/>
              <a:gd name="connsiteX3-17" fmla="*/ 22377 w 22377"/>
              <a:gd name="connsiteY3-18" fmla="*/ 8648 h 25879"/>
              <a:gd name="connsiteX4-19" fmla="*/ 19530 w 22377"/>
              <a:gd name="connsiteY4-20" fmla="*/ 0 h 25879"/>
              <a:gd name="connsiteX0-21" fmla="*/ 19530 w 24512"/>
              <a:gd name="connsiteY0-22" fmla="*/ 0 h 25879"/>
              <a:gd name="connsiteX1-23" fmla="*/ 3580 w 24512"/>
              <a:gd name="connsiteY1-24" fmla="*/ 15749 h 25879"/>
              <a:gd name="connsiteX2-25" fmla="*/ 0 w 24512"/>
              <a:gd name="connsiteY2-26" fmla="*/ 25879 h 25879"/>
              <a:gd name="connsiteX3-27" fmla="*/ 24512 w 24512"/>
              <a:gd name="connsiteY3-28" fmla="*/ 8648 h 25879"/>
              <a:gd name="connsiteX4-29" fmla="*/ 19530 w 24512"/>
              <a:gd name="connsiteY4-30" fmla="*/ 0 h 25879"/>
              <a:gd name="connsiteX0-31" fmla="*/ 21180 w 24512"/>
              <a:gd name="connsiteY0-32" fmla="*/ 0 h 27189"/>
              <a:gd name="connsiteX1-33" fmla="*/ 3580 w 24512"/>
              <a:gd name="connsiteY1-34" fmla="*/ 17059 h 27189"/>
              <a:gd name="connsiteX2-35" fmla="*/ 0 w 24512"/>
              <a:gd name="connsiteY2-36" fmla="*/ 27189 h 27189"/>
              <a:gd name="connsiteX3-37" fmla="*/ 24512 w 24512"/>
              <a:gd name="connsiteY3-38" fmla="*/ 9958 h 27189"/>
              <a:gd name="connsiteX4-39" fmla="*/ 21180 w 24512"/>
              <a:gd name="connsiteY4-40" fmla="*/ 0 h 27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512" h="27189" extrusionOk="0">
                <a:moveTo>
                  <a:pt x="21180" y="0"/>
                </a:moveTo>
                <a:lnTo>
                  <a:pt x="3580" y="17059"/>
                </a:lnTo>
                <a:lnTo>
                  <a:pt x="0" y="27189"/>
                </a:lnTo>
                <a:lnTo>
                  <a:pt x="24512" y="9958"/>
                </a:lnTo>
                <a:lnTo>
                  <a:pt x="21180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5"/>
          <p:cNvSpPr/>
          <p:nvPr>
            <p:custDataLst>
              <p:tags r:id="rId9"/>
            </p:custDataLst>
          </p:nvPr>
        </p:nvSpPr>
        <p:spPr>
          <a:xfrm>
            <a:off x="623392" y="1630595"/>
            <a:ext cx="3049849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5917" h="712">
                <a:moveTo>
                  <a:pt x="0" y="0"/>
                </a:moveTo>
                <a:lnTo>
                  <a:pt x="5917" y="0"/>
                </a:lnTo>
                <a:lnTo>
                  <a:pt x="5591" y="712"/>
                </a:lnTo>
                <a:lnTo>
                  <a:pt x="332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电影总览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页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1" name="任意多边形 6"/>
          <p:cNvSpPr/>
          <p:nvPr>
            <p:custDataLst>
              <p:tags r:id="rId10"/>
            </p:custDataLst>
          </p:nvPr>
        </p:nvSpPr>
        <p:spPr>
          <a:xfrm>
            <a:off x="887112" y="2562374"/>
            <a:ext cx="24997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878" h="715">
                <a:moveTo>
                  <a:pt x="0" y="0"/>
                </a:moveTo>
                <a:lnTo>
                  <a:pt x="4878" y="0"/>
                </a:lnTo>
                <a:lnTo>
                  <a:pt x="4550" y="715"/>
                </a:lnTo>
                <a:lnTo>
                  <a:pt x="325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可视化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分析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2" name="任意多边形 8"/>
          <p:cNvSpPr/>
          <p:nvPr>
            <p:custDataLst>
              <p:tags r:id="rId11"/>
            </p:custDataLst>
          </p:nvPr>
        </p:nvSpPr>
        <p:spPr>
          <a:xfrm>
            <a:off x="1152769" y="3498478"/>
            <a:ext cx="19989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3846" h="715">
                <a:moveTo>
                  <a:pt x="0" y="0"/>
                </a:moveTo>
                <a:lnTo>
                  <a:pt x="3846" y="0"/>
                </a:lnTo>
                <a:lnTo>
                  <a:pt x="3514" y="715"/>
                </a:lnTo>
                <a:lnTo>
                  <a:pt x="328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电影详细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弹窗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3" name="任意多边形 9"/>
          <p:cNvSpPr/>
          <p:nvPr>
            <p:custDataLst>
              <p:tags r:id="rId12"/>
            </p:custDataLst>
          </p:nvPr>
        </p:nvSpPr>
        <p:spPr>
          <a:xfrm>
            <a:off x="1418214" y="4436487"/>
            <a:ext cx="1423215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2806" h="712">
                <a:moveTo>
                  <a:pt x="0" y="0"/>
                </a:moveTo>
                <a:lnTo>
                  <a:pt x="2806" y="0"/>
                </a:lnTo>
                <a:lnTo>
                  <a:pt x="2480" y="712"/>
                </a:lnTo>
                <a:lnTo>
                  <a:pt x="328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智能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助手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5" name="任意多边形 12"/>
          <p:cNvSpPr/>
          <p:nvPr>
            <p:custDataLst>
              <p:tags r:id="rId13"/>
            </p:custDataLst>
          </p:nvPr>
        </p:nvSpPr>
        <p:spPr>
          <a:xfrm>
            <a:off x="1728569" y="5365606"/>
            <a:ext cx="896736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1768" h="723">
                <a:moveTo>
                  <a:pt x="0" y="0"/>
                </a:moveTo>
                <a:lnTo>
                  <a:pt x="1768" y="0"/>
                </a:lnTo>
                <a:lnTo>
                  <a:pt x="1436" y="723"/>
                </a:lnTo>
                <a:lnTo>
                  <a:pt x="332" y="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7000">
                <a:srgbClr val="8F6FFF"/>
              </a:gs>
              <a:gs pos="0">
                <a:srgbClr val="D7E0F7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夜间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9" name="矩形 38"/>
          <p:cNvSpPr/>
          <p:nvPr>
            <p:custDataLst>
              <p:tags r:id="rId14"/>
            </p:custDataLst>
          </p:nvPr>
        </p:nvSpPr>
        <p:spPr>
          <a:xfrm>
            <a:off x="479425" y="476250"/>
            <a:ext cx="367284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569595" y="414655"/>
            <a:ext cx="4663440" cy="713740"/>
            <a:chOff x="350" y="332"/>
            <a:chExt cx="10089" cy="1124"/>
          </a:xfrm>
        </p:grpSpPr>
        <p:sp>
          <p:nvSpPr>
            <p:cNvPr id="41" name="矩形 40"/>
            <p:cNvSpPr/>
            <p:nvPr>
              <p:custDataLst>
                <p:tags r:id="rId15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2" name="FLYING IMPRESSION FID FEIZHAO    qq:1964271550"/>
            <p:cNvSpPr txBox="1"/>
            <p:nvPr>
              <p:custDataLst>
                <p:tags r:id="rId16"/>
              </p:custDataLst>
            </p:nvPr>
          </p:nvSpPr>
          <p:spPr>
            <a:xfrm>
              <a:off x="504" y="332"/>
              <a:ext cx="9935" cy="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核心功能界面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介绍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3" name="FLYING IMPRESSION FID FEIZHAO    qq:1964271550"/>
            <p:cNvSpPr txBox="1"/>
            <p:nvPr>
              <p:custDataLst>
                <p:tags r:id="rId17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Introduction to Core Functional Interfaces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pic>
        <p:nvPicPr>
          <p:cNvPr id="44" name="Picture 3"/>
          <p:cNvPicPr>
            <a:picLocks noChangeAspect="1"/>
          </p:cNvPicPr>
          <p:nvPr/>
        </p:nvPicPr>
        <p:blipFill>
          <a:blip r:embed="rId18"/>
          <a:srcRect l="1291" r="1291"/>
          <a:stretch>
            <a:fillRect/>
          </a:stretch>
        </p:blipFill>
        <p:spPr>
          <a:xfrm>
            <a:off x="5015865" y="3068955"/>
            <a:ext cx="6096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  <p:sp>
        <p:nvSpPr>
          <p:cNvPr id="45" name="文本框 44"/>
          <p:cNvSpPr txBox="1"/>
          <p:nvPr/>
        </p:nvSpPr>
        <p:spPr>
          <a:xfrm>
            <a:off x="4944110" y="1484630"/>
            <a:ext cx="6096000" cy="1235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33000"/>
              </a:lnSpc>
              <a:defRPr/>
            </a:pPr>
            <a:r>
              <a:rPr lang="en-US" sz="1400" b="1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一键切换，全局同步：</a:t>
            </a:r>
            <a:r>
              <a:rPr lang="en-US" sz="1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点击按钮即可实现背景、卡片、文字等全界面元素颜色实时同步切换，无缝适配日间与夜间浏览场景。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1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偏好持久化：</a:t>
            </a:r>
            <a:r>
              <a:rPr lang="en-US" sz="1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用户模式选择将通过 localStorage 保存在本地，关闭或刷新页面后仍可自动恢复，保障体验连贯性。</a:t>
            </a:r>
            <a:endParaRPr lang="en-US" altLang="en-US" sz="1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479425" y="476250"/>
            <a:ext cx="2413635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69595" y="414655"/>
            <a:ext cx="4533900" cy="713740"/>
            <a:chOff x="350" y="332"/>
            <a:chExt cx="10089" cy="1124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FLYING IMPRESSION FID FEIZHAO    qq:1964271550"/>
            <p:cNvSpPr txBox="1"/>
            <p:nvPr>
              <p:custDataLst>
                <p:tags r:id="rId4"/>
              </p:custDataLst>
            </p:nvPr>
          </p:nvSpPr>
          <p:spPr>
            <a:xfrm>
              <a:off x="504" y="332"/>
              <a:ext cx="9935" cy="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技术与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创新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LYING IMPRESSION FID FEIZHAO    qq:1964271550"/>
            <p:cNvSpPr txBox="1"/>
            <p:nvPr>
              <p:custDataLst>
                <p:tags r:id="rId5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Technology and Innovation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utoShape 4"/>
          <p:cNvSpPr/>
          <p:nvPr/>
        </p:nvSpPr>
        <p:spPr>
          <a:xfrm>
            <a:off x="1055370" y="1484630"/>
            <a:ext cx="4826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94A3B8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3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36370" y="1865630"/>
            <a:ext cx="406400" cy="406400"/>
          </a:xfrm>
          <a:prstGeom prst="rect">
            <a:avLst/>
          </a:prstGeom>
        </p:spPr>
      </p:pic>
      <p:sp>
        <p:nvSpPr>
          <p:cNvPr id="33" name="AutoShape 6"/>
          <p:cNvSpPr/>
          <p:nvPr/>
        </p:nvSpPr>
        <p:spPr>
          <a:xfrm>
            <a:off x="1995170" y="186563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深度融合</a:t>
            </a:r>
            <a:endParaRPr lang="en-US" sz="2000" b="1" i="0" u="none" strike="noStrike">
              <a:solidFill>
                <a:srgbClr val="9188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5" name="Connector 7"/>
          <p:cNvCxnSpPr/>
          <p:nvPr/>
        </p:nvCxnSpPr>
        <p:spPr>
          <a:xfrm rot="-10742">
            <a:off x="1436380" y="255778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8"/>
          <p:cNvSpPr/>
          <p:nvPr/>
        </p:nvSpPr>
        <p:spPr>
          <a:xfrm>
            <a:off x="1436370" y="2576830"/>
            <a:ext cx="4064000" cy="28155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打破传统BI的被动查询模式，实现从“人找数据”到“数据找人”的交互范式革新。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◈ 自然交互：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对话式指令替代拖拽筛选，意图秒级响应。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◈ 自动生成：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AI自主生成SQL并输出动态洞察报告。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◈ 零门槛：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无需技术背景，业务人员亦可驾驭数据。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7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56045" y="1345565"/>
            <a:ext cx="355600" cy="355600"/>
          </a:xfrm>
          <a:prstGeom prst="rect">
            <a:avLst/>
          </a:prstGeom>
        </p:spPr>
      </p:pic>
      <p:sp>
        <p:nvSpPr>
          <p:cNvPr id="38" name="AutoShape 10"/>
          <p:cNvSpPr/>
          <p:nvPr>
            <p:custDataLst>
              <p:tags r:id="rId12"/>
            </p:custDataLst>
          </p:nvPr>
        </p:nvSpPr>
        <p:spPr>
          <a:xfrm>
            <a:off x="6964045" y="1345565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反爬破解与精准采集</a:t>
            </a:r>
            <a:endParaRPr lang="en-US" sz="1800" b="1" i="0" u="none" strike="noStrike">
              <a:solidFill>
                <a:srgbClr val="9188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11"/>
          <p:cNvSpPr/>
          <p:nvPr>
            <p:custDataLst>
              <p:tags r:id="rId13"/>
            </p:custDataLst>
          </p:nvPr>
        </p:nvSpPr>
        <p:spPr>
          <a:xfrm>
            <a:off x="6456045" y="1917065"/>
            <a:ext cx="444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针对猫眼电影字体反爬机制，研发动态字形识别技术，突破数据采集屏障。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◈ 以形识数：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解析woff文件，建立字形坐标动态映射。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◈ 多维突破：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绕过Cookie验证与IP限制，攻克异步加载。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◈ 真实数据：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成功采集10,294条高价值中国票房数据。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0" name="Picture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56045" y="3695065"/>
            <a:ext cx="355600" cy="355600"/>
          </a:xfrm>
          <a:prstGeom prst="rect">
            <a:avLst/>
          </a:prstGeom>
        </p:spPr>
      </p:pic>
      <p:sp>
        <p:nvSpPr>
          <p:cNvPr id="41" name="AutoShape 13"/>
          <p:cNvSpPr/>
          <p:nvPr>
            <p:custDataLst>
              <p:tags r:id="rId17"/>
            </p:custDataLst>
          </p:nvPr>
        </p:nvSpPr>
        <p:spPr>
          <a:xfrm>
            <a:off x="6964045" y="3695065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18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智能容错与前端优化</a:t>
            </a:r>
            <a:endParaRPr lang="en-US" sz="1800" b="1" i="0" u="none" strike="noStrike">
              <a:solidFill>
                <a:srgbClr val="9188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14"/>
          <p:cNvSpPr/>
          <p:nvPr>
            <p:custDataLst>
              <p:tags r:id="rId18"/>
            </p:custDataLst>
          </p:nvPr>
        </p:nvSpPr>
        <p:spPr>
          <a:xfrm>
            <a:off x="6456045" y="4203065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构建高可用系统架构，创新前端渲染方案，兼顾稳定性与用户体验。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◈ 双重保障：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正则精准提取+关键词匹配降级，解析零报错。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◈ 纯CSS词云：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无CDN依赖，随机样式生成，实现即时加载。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◈ 极致性能：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前端渲染零等待，视觉效果流畅且轻量化。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479425" y="476250"/>
            <a:ext cx="2671445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69595" y="414655"/>
            <a:ext cx="4469130" cy="1050290"/>
            <a:chOff x="350" y="332"/>
            <a:chExt cx="10089" cy="1654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FLYING IMPRESSION FID FEIZHAO    qq:1964271550"/>
            <p:cNvSpPr txBox="1"/>
            <p:nvPr>
              <p:custDataLst>
                <p:tags r:id="rId4"/>
              </p:custDataLst>
            </p:nvPr>
          </p:nvSpPr>
          <p:spPr>
            <a:xfrm>
              <a:off x="504" y="332"/>
              <a:ext cx="9935" cy="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协作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开发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l">
                <a:lnSpc>
                  <a:spcPct val="130000"/>
                </a:lnSpc>
              </a:pP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LYING IMPRESSION FID FEIZHAO    qq:1964271550"/>
            <p:cNvSpPr txBox="1"/>
            <p:nvPr>
              <p:custDataLst>
                <p:tags r:id="rId5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 Collaboration Development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AutoShape 4"/>
          <p:cNvSpPr/>
          <p:nvPr/>
        </p:nvSpPr>
        <p:spPr>
          <a:xfrm>
            <a:off x="623570" y="98107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DeepSeek API 深度赋能开发全流程，覆盖智能编码辅助、实时调试纠错与架构方案设计，重塑高效研发协作模式。</a:t>
            </a:r>
            <a:endParaRPr lang="en-US" sz="1100"/>
          </a:p>
        </p:txBody>
      </p:sp>
      <p:graphicFrame>
        <p:nvGraphicFramePr>
          <p:cNvPr id="4" name="表格 3"/>
          <p:cNvGraphicFramePr/>
          <p:nvPr>
            <p:custDataLst>
              <p:tags r:id="rId7"/>
            </p:custDataLst>
          </p:nvPr>
        </p:nvGraphicFramePr>
        <p:xfrm>
          <a:off x="695325" y="1763395"/>
          <a:ext cx="6299835" cy="4353560"/>
        </p:xfrm>
        <a:graphic>
          <a:graphicData uri="http://schemas.openxmlformats.org/drawingml/2006/table">
            <a:tbl>
              <a:tblPr/>
              <a:tblGrid>
                <a:gridCol w="758825"/>
                <a:gridCol w="1313180"/>
                <a:gridCol w="1138555"/>
                <a:gridCol w="3089275"/>
              </a:tblGrid>
              <a:tr h="29718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300" b="1" spc="12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轮次</a:t>
                      </a:r>
                      <a:endParaRPr lang="zh-CN" altLang="en-US" sz="1300" b="1" spc="12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7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300" b="1" spc="12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任务</a:t>
                      </a:r>
                      <a:endParaRPr lang="zh-CN" altLang="en-US" sz="1300" b="1" spc="12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7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300" b="1" spc="12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分工</a:t>
                      </a:r>
                      <a:endParaRPr lang="zh-CN" altLang="en-US" sz="1300" b="1" spc="12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7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300" b="1" spc="12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关键产出</a:t>
                      </a:r>
                      <a:endParaRPr lang="zh-CN" altLang="en-US" sz="1300" b="1" spc="12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7EA"/>
                    </a:solidFill>
                  </a:tcPr>
                </a:tc>
              </a:tr>
              <a:tr h="2540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数据源选型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人决策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暂时放弃猫眼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→Kaggle+TMDB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73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Kaggle API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配置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辅助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生成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kaggle.json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凭证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</a:tr>
              <a:tr h="2540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TMDB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海报爬取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辅助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Retry+Session+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限流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3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多源数据去重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辅助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临时表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+GROUP BY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去重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</a:tr>
              <a:tr h="2533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类型筛选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错误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人纠正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JSON_CONTAINS→LIKE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密码硬编码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辅助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.env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环境变量管理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</a:tr>
              <a:tr h="2533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前端懒加载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人自主设计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全量加载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人分页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懒加载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3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翻译性能优化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人架构决策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实时翻译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人砍掉改用缓存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</a:tr>
              <a:tr h="2533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票房趋势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人决策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实现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SUM→AVG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HAVING COUNT≥3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连接池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辅助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DBUtils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连接池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</a:tr>
              <a:tr h="25273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环形图动画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辅助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CSS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动画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弹性缓动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类型统计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人决策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实现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TOP15→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全部显示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</a:tr>
              <a:tr h="2533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markdown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解析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错误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人纠正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正则直接提取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JSON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预测模式契约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人发现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修复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增加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is_prediction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分支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</a:tr>
              <a:tr h="25273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预测模型边界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人质疑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承认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补充多维度特征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DeepSeek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集成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辅助</a:t>
                      </a: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zh-CN" altLang="en-US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人整合</a:t>
                      </a:r>
                      <a:endParaRPr lang="zh-CN" altLang="en-US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agent_recommend+fallback</a:t>
                      </a:r>
                      <a:endParaRPr lang="en-US" altLang="zh-CN" sz="110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E3F4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 rot="16200000">
            <a:off x="6850380" y="2303780"/>
            <a:ext cx="4337685" cy="354266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文本框 15"/>
          <p:cNvSpPr txBox="1"/>
          <p:nvPr/>
        </p:nvSpPr>
        <p:spPr>
          <a:xfrm>
            <a:off x="7463790" y="2348865"/>
            <a:ext cx="3451225" cy="3451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>
              <a:lnSpc>
                <a:spcPct val="108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流程图清晰地展示了我与</a:t>
            </a: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协作的完整闭环：</a:t>
            </a:r>
            <a:b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需求定义由我完成，</a:t>
            </a: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据此生成技术方案；</a:t>
            </a:r>
            <a:b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我对方案进行验证和修正后，交由</a:t>
            </a: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编码实现；</a:t>
            </a:r>
            <a:b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代码产出后我进行</a:t>
            </a: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 Review，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确认无误后部署上线。 </a:t>
            </a:r>
            <a:endParaRPr lang="zh-CN" altLang="en-US" sz="1400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zh-CN" altLang="en-US" sz="1400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08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整个项目经历了16轮这样的迭代，其中我纠正了</a:t>
            </a: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的3处关键错误，并做了2次</a:t>
            </a: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能力边界分析，每轮都明确标注了是「人完成」还是「</a:t>
            </a:r>
            <a:r>
              <a:rPr lang="en-US" altLang="zh-CN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辅助」，确保分工清晰可控。</a:t>
            </a:r>
            <a:endParaRPr lang="zh-CN" altLang="en-US" sz="1400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/>
        </p:nvSpPr>
        <p:spPr>
          <a:xfrm>
            <a:off x="4727575" y="1173480"/>
            <a:ext cx="5553710" cy="234505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479425" y="476250"/>
            <a:ext cx="2671445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6" name="组合 5"/>
          <p:cNvGrpSpPr/>
          <p:nvPr/>
        </p:nvGrpSpPr>
        <p:grpSpPr>
          <a:xfrm>
            <a:off x="569595" y="414655"/>
            <a:ext cx="4469130" cy="1050290"/>
            <a:chOff x="350" y="332"/>
            <a:chExt cx="10089" cy="1654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FLYING IMPRESSION FID FEIZHAO    qq:1964271550"/>
            <p:cNvSpPr txBox="1"/>
            <p:nvPr>
              <p:custDataLst>
                <p:tags r:id="rId4"/>
              </p:custDataLst>
            </p:nvPr>
          </p:nvSpPr>
          <p:spPr>
            <a:xfrm>
              <a:off x="504" y="332"/>
              <a:ext cx="9935" cy="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协作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开发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l">
                <a:lnSpc>
                  <a:spcPct val="130000"/>
                </a:lnSpc>
              </a:pP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LYING IMPRESSION FID FEIZHAO    qq:1964271550"/>
            <p:cNvSpPr txBox="1"/>
            <p:nvPr>
              <p:custDataLst>
                <p:tags r:id="rId5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 Collaboration Development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AutoShape 14"/>
          <p:cNvSpPr/>
          <p:nvPr/>
        </p:nvSpPr>
        <p:spPr>
          <a:xfrm>
            <a:off x="5019675" y="1382395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0" name="AutoShape 15"/>
          <p:cNvSpPr/>
          <p:nvPr/>
        </p:nvSpPr>
        <p:spPr>
          <a:xfrm>
            <a:off x="5015230" y="146113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</a:t>
            </a:r>
            <a:r>
              <a:rPr 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br>
              <a:rPr 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altLang="zh-CN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altLang="zh-CN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JSON_CONTAINS</a:t>
            </a: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查类型字段，但类型是逗号分隔的字符串，一运行就报错</a:t>
            </a:r>
            <a:r>
              <a:rPr lang="zh-CN" alt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300" b="1" i="0" u="none" strike="noStrike">
              <a:solidFill>
                <a:srgbClr val="E5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16"/>
          <p:cNvSpPr/>
          <p:nvPr/>
        </p:nvSpPr>
        <p:spPr>
          <a:xfrm>
            <a:off x="5015230" y="227393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altLang="zh-CN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的修复</a:t>
            </a:r>
            <a:r>
              <a:rPr lang="en-US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br>
              <a:rPr lang="en-US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在原有代码上反复打补丁，未检查表结构。 </a:t>
            </a:r>
            <a:endParaRPr lang="zh-CN" altLang="en-US" sz="13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17"/>
          <p:cNvSpPr/>
          <p:nvPr/>
        </p:nvSpPr>
        <p:spPr>
          <a:xfrm>
            <a:off x="5011420" y="304863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45" name="AutoShape 18"/>
          <p:cNvSpPr/>
          <p:nvPr/>
        </p:nvSpPr>
        <p:spPr>
          <a:xfrm>
            <a:off x="5015230" y="317246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rgbClr val="3197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我的纠正：                                   </a:t>
            </a:r>
            <a:endParaRPr lang="zh-CN" altLang="en-US" sz="1200" b="1" i="0" u="none" strike="noStrike">
              <a:solidFill>
                <a:srgbClr val="31979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检查表结构 → 发现是逗号分隔字符串                   </a:t>
            </a:r>
            <a:endParaRPr lang="zh-CN" altLang="en-US" sz="12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改用 </a:t>
            </a:r>
            <a:r>
              <a:rPr lang="en-US" altLang="zh-CN" sz="12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LIKE '%</a:t>
            </a:r>
            <a:r>
              <a:rPr lang="zh-CN" altLang="en-US" sz="12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类型%' 匹配 </a:t>
            </a:r>
            <a:r>
              <a:rPr lang="zh-CN" altLang="en-US" sz="1200" b="1" i="0" u="none" strike="noStrike">
                <a:solidFill>
                  <a:srgbClr val="3197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zh-CN" altLang="en-US" sz="1200" b="1" i="0" u="none" strike="noStrike">
              <a:solidFill>
                <a:srgbClr val="31979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左箭头 27"/>
          <p:cNvSpPr/>
          <p:nvPr>
            <p:custDataLst>
              <p:tags r:id="rId7"/>
            </p:custDataLst>
          </p:nvPr>
        </p:nvSpPr>
        <p:spPr>
          <a:xfrm rot="10800000">
            <a:off x="307167" y="2547837"/>
            <a:ext cx="788670" cy="394643"/>
          </a:xfrm>
          <a:prstGeom prst="leftArrow">
            <a:avLst/>
          </a:prstGeom>
          <a:gradFill>
            <a:gsLst>
              <a:gs pos="0">
                <a:srgbClr val="9188E6"/>
              </a:gs>
              <a:gs pos="100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左箭头 27"/>
          <p:cNvSpPr/>
          <p:nvPr>
            <p:custDataLst>
              <p:tags r:id="rId8"/>
            </p:custDataLst>
          </p:nvPr>
        </p:nvSpPr>
        <p:spPr>
          <a:xfrm rot="10800000">
            <a:off x="3331503" y="2547838"/>
            <a:ext cx="788670" cy="394643"/>
          </a:xfrm>
          <a:prstGeom prst="leftArrow">
            <a:avLst/>
          </a:prstGeom>
          <a:gradFill>
            <a:gsLst>
              <a:gs pos="100000">
                <a:srgbClr val="9188E6"/>
              </a:gs>
              <a:gs pos="4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形状"/>
          <p:cNvSpPr/>
          <p:nvPr>
            <p:custDataLst>
              <p:tags r:id="rId9"/>
            </p:custDataLst>
          </p:nvPr>
        </p:nvSpPr>
        <p:spPr>
          <a:xfrm flipV="1">
            <a:off x="640135" y="2490986"/>
            <a:ext cx="2766476" cy="1466855"/>
          </a:xfrm>
          <a:custGeom>
            <a:avLst/>
            <a:gdLst>
              <a:gd name="connsiteX0" fmla="*/ 20288 w 21600"/>
              <a:gd name="connsiteY0" fmla="*/ 0 h 21600"/>
              <a:gd name="connsiteX1" fmla="*/ 1577 w 21600"/>
              <a:gd name="connsiteY1" fmla="*/ 11681 h 21600"/>
              <a:gd name="connsiteX2" fmla="*/ 0 w 21600"/>
              <a:gd name="connsiteY2" fmla="*/ 21600 h 21600"/>
              <a:gd name="connsiteX3" fmla="*/ 21600 w 21600"/>
              <a:gd name="connsiteY3" fmla="*/ 8361 h 21600"/>
              <a:gd name="connsiteX4" fmla="*/ 20288 w 21600"/>
              <a:gd name="connsiteY4" fmla="*/ 0 h 21600"/>
              <a:gd name="connsiteX0-1" fmla="*/ 20288 w 23905"/>
              <a:gd name="connsiteY0-2" fmla="*/ 0 h 21600"/>
              <a:gd name="connsiteX1-3" fmla="*/ 1577 w 23905"/>
              <a:gd name="connsiteY1-4" fmla="*/ 11681 h 21600"/>
              <a:gd name="connsiteX2-5" fmla="*/ 0 w 23905"/>
              <a:gd name="connsiteY2-6" fmla="*/ 21600 h 21600"/>
              <a:gd name="connsiteX3-7" fmla="*/ 23905 w 23905"/>
              <a:gd name="connsiteY3-8" fmla="*/ 4585 h 21600"/>
              <a:gd name="connsiteX4-9" fmla="*/ 20288 w 23905"/>
              <a:gd name="connsiteY4-10" fmla="*/ 0 h 21600"/>
              <a:gd name="connsiteX0-11" fmla="*/ 22469 w 23905"/>
              <a:gd name="connsiteY0-12" fmla="*/ 0 h 27044"/>
              <a:gd name="connsiteX1-13" fmla="*/ 1577 w 23905"/>
              <a:gd name="connsiteY1-14" fmla="*/ 17125 h 27044"/>
              <a:gd name="connsiteX2-15" fmla="*/ 0 w 23905"/>
              <a:gd name="connsiteY2-16" fmla="*/ 27044 h 27044"/>
              <a:gd name="connsiteX3-17" fmla="*/ 23905 w 23905"/>
              <a:gd name="connsiteY3-18" fmla="*/ 10029 h 27044"/>
              <a:gd name="connsiteX4-19" fmla="*/ 22469 w 23905"/>
              <a:gd name="connsiteY4-20" fmla="*/ 0 h 270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5" h="27044" extrusionOk="0">
                <a:moveTo>
                  <a:pt x="22469" y="0"/>
                </a:moveTo>
                <a:lnTo>
                  <a:pt x="1577" y="17125"/>
                </a:lnTo>
                <a:lnTo>
                  <a:pt x="0" y="27044"/>
                </a:lnTo>
                <a:lnTo>
                  <a:pt x="23905" y="10029"/>
                </a:lnTo>
                <a:lnTo>
                  <a:pt x="22469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形状"/>
          <p:cNvSpPr/>
          <p:nvPr>
            <p:custDataLst>
              <p:tags r:id="rId10"/>
            </p:custDataLst>
          </p:nvPr>
        </p:nvSpPr>
        <p:spPr>
          <a:xfrm flipV="1">
            <a:off x="879398" y="3425821"/>
            <a:ext cx="2286779" cy="1468120"/>
          </a:xfrm>
          <a:custGeom>
            <a:avLst/>
            <a:gdLst>
              <a:gd name="connsiteX0" fmla="*/ 19955 w 21600"/>
              <a:gd name="connsiteY0" fmla="*/ 0 h 21600"/>
              <a:gd name="connsiteX1" fmla="*/ 1867 w 21600"/>
              <a:gd name="connsiteY1" fmla="*/ 11931 h 21600"/>
              <a:gd name="connsiteX2" fmla="*/ 0 w 21600"/>
              <a:gd name="connsiteY2" fmla="*/ 21600 h 21600"/>
              <a:gd name="connsiteX3" fmla="*/ 21600 w 21600"/>
              <a:gd name="connsiteY3" fmla="*/ 8353 h 21600"/>
              <a:gd name="connsiteX4" fmla="*/ 19955 w 21600"/>
              <a:gd name="connsiteY4" fmla="*/ 0 h 21600"/>
              <a:gd name="connsiteX0-1" fmla="*/ 19955 w 24452"/>
              <a:gd name="connsiteY0-2" fmla="*/ 0 h 21600"/>
              <a:gd name="connsiteX1-3" fmla="*/ 1867 w 24452"/>
              <a:gd name="connsiteY1-4" fmla="*/ 11931 h 21600"/>
              <a:gd name="connsiteX2-5" fmla="*/ 0 w 24452"/>
              <a:gd name="connsiteY2-6" fmla="*/ 21600 h 21600"/>
              <a:gd name="connsiteX3-7" fmla="*/ 24452 w 24452"/>
              <a:gd name="connsiteY3-8" fmla="*/ 4406 h 21600"/>
              <a:gd name="connsiteX4-9" fmla="*/ 19955 w 24452"/>
              <a:gd name="connsiteY4-10" fmla="*/ 0 h 21600"/>
              <a:gd name="connsiteX0-11" fmla="*/ 22705 w 24452"/>
              <a:gd name="connsiteY0-12" fmla="*/ 0 h 27038"/>
              <a:gd name="connsiteX1-13" fmla="*/ 1867 w 24452"/>
              <a:gd name="connsiteY1-14" fmla="*/ 17369 h 27038"/>
              <a:gd name="connsiteX2-15" fmla="*/ 0 w 24452"/>
              <a:gd name="connsiteY2-16" fmla="*/ 27038 h 27038"/>
              <a:gd name="connsiteX3-17" fmla="*/ 24452 w 24452"/>
              <a:gd name="connsiteY3-18" fmla="*/ 9844 h 27038"/>
              <a:gd name="connsiteX4-19" fmla="*/ 22705 w 24452"/>
              <a:gd name="connsiteY4-20" fmla="*/ 0 h 27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52" h="27038" extrusionOk="0">
                <a:moveTo>
                  <a:pt x="22705" y="0"/>
                </a:moveTo>
                <a:lnTo>
                  <a:pt x="1867" y="17369"/>
                </a:lnTo>
                <a:lnTo>
                  <a:pt x="0" y="27038"/>
                </a:lnTo>
                <a:lnTo>
                  <a:pt x="24452" y="9844"/>
                </a:lnTo>
                <a:lnTo>
                  <a:pt x="22705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5"/>
          <p:cNvSpPr/>
          <p:nvPr>
            <p:custDataLst>
              <p:tags r:id="rId11"/>
            </p:custDataLst>
          </p:nvPr>
        </p:nvSpPr>
        <p:spPr>
          <a:xfrm>
            <a:off x="637455" y="2492781"/>
            <a:ext cx="3049849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5917" h="712">
                <a:moveTo>
                  <a:pt x="0" y="0"/>
                </a:moveTo>
                <a:lnTo>
                  <a:pt x="5917" y="0"/>
                </a:lnTo>
                <a:lnTo>
                  <a:pt x="5591" y="712"/>
                </a:lnTo>
                <a:lnTo>
                  <a:pt x="332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7000">
                <a:srgbClr val="8F6FFF"/>
              </a:gs>
              <a:gs pos="0">
                <a:srgbClr val="BDCDFF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语法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误用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1" name="任意多边形 6"/>
          <p:cNvSpPr/>
          <p:nvPr>
            <p:custDataLst>
              <p:tags r:id="rId12"/>
            </p:custDataLst>
          </p:nvPr>
        </p:nvSpPr>
        <p:spPr>
          <a:xfrm>
            <a:off x="901175" y="3424560"/>
            <a:ext cx="24997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878" h="715">
                <a:moveTo>
                  <a:pt x="0" y="0"/>
                </a:moveTo>
                <a:lnTo>
                  <a:pt x="4878" y="0"/>
                </a:lnTo>
                <a:lnTo>
                  <a:pt x="4550" y="715"/>
                </a:lnTo>
                <a:lnTo>
                  <a:pt x="325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方案设计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缺陷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4" name="任意多边形 8"/>
          <p:cNvSpPr/>
          <p:nvPr>
            <p:custDataLst>
              <p:tags r:id="rId13"/>
            </p:custDataLst>
          </p:nvPr>
        </p:nvSpPr>
        <p:spPr>
          <a:xfrm>
            <a:off x="1166832" y="4360664"/>
            <a:ext cx="19989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3846" h="715">
                <a:moveTo>
                  <a:pt x="0" y="0"/>
                </a:moveTo>
                <a:lnTo>
                  <a:pt x="3846" y="0"/>
                </a:lnTo>
                <a:lnTo>
                  <a:pt x="3514" y="715"/>
                </a:lnTo>
                <a:lnTo>
                  <a:pt x="328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解析逻辑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缺陷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83430" y="4221480"/>
            <a:ext cx="5588000" cy="1511300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479425" y="476250"/>
            <a:ext cx="2671445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6" name="组合 5"/>
          <p:cNvGrpSpPr/>
          <p:nvPr/>
        </p:nvGrpSpPr>
        <p:grpSpPr>
          <a:xfrm>
            <a:off x="569595" y="414655"/>
            <a:ext cx="4469130" cy="1050290"/>
            <a:chOff x="350" y="332"/>
            <a:chExt cx="10089" cy="1654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FLYING IMPRESSION FID FEIZHAO    qq:1964271550"/>
            <p:cNvSpPr txBox="1"/>
            <p:nvPr>
              <p:custDataLst>
                <p:tags r:id="rId4"/>
              </p:custDataLst>
            </p:nvPr>
          </p:nvSpPr>
          <p:spPr>
            <a:xfrm>
              <a:off x="504" y="332"/>
              <a:ext cx="9935" cy="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协作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开发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l">
                <a:lnSpc>
                  <a:spcPct val="130000"/>
                </a:lnSpc>
              </a:pP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LYING IMPRESSION FID FEIZHAO    qq:1964271550"/>
            <p:cNvSpPr txBox="1"/>
            <p:nvPr>
              <p:custDataLst>
                <p:tags r:id="rId5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 Collaboration Development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2" name="AutoShape 4"/>
          <p:cNvSpPr/>
          <p:nvPr/>
        </p:nvSpPr>
        <p:spPr>
          <a:xfrm>
            <a:off x="762000" y="1333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61" name="左箭头 27"/>
          <p:cNvSpPr/>
          <p:nvPr>
            <p:custDataLst>
              <p:tags r:id="rId7"/>
            </p:custDataLst>
          </p:nvPr>
        </p:nvSpPr>
        <p:spPr>
          <a:xfrm rot="10800000">
            <a:off x="541606" y="3541998"/>
            <a:ext cx="788670" cy="394643"/>
          </a:xfrm>
          <a:prstGeom prst="leftArrow">
            <a:avLst/>
          </a:prstGeom>
          <a:gradFill>
            <a:gsLst>
              <a:gs pos="0">
                <a:srgbClr val="9188E6"/>
              </a:gs>
              <a:gs pos="100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左箭头 27"/>
          <p:cNvSpPr/>
          <p:nvPr>
            <p:custDataLst>
              <p:tags r:id="rId8"/>
            </p:custDataLst>
          </p:nvPr>
        </p:nvSpPr>
        <p:spPr>
          <a:xfrm rot="10800000">
            <a:off x="3130476" y="3541997"/>
            <a:ext cx="788670" cy="394643"/>
          </a:xfrm>
          <a:prstGeom prst="leftArrow">
            <a:avLst/>
          </a:prstGeom>
          <a:gradFill>
            <a:gsLst>
              <a:gs pos="100000">
                <a:srgbClr val="9188E6"/>
              </a:gs>
              <a:gs pos="4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形状"/>
          <p:cNvSpPr/>
          <p:nvPr>
            <p:custDataLst>
              <p:tags r:id="rId9"/>
            </p:custDataLst>
          </p:nvPr>
        </p:nvSpPr>
        <p:spPr>
          <a:xfrm flipV="1">
            <a:off x="655132" y="2496210"/>
            <a:ext cx="2766476" cy="1466855"/>
          </a:xfrm>
          <a:custGeom>
            <a:avLst/>
            <a:gdLst>
              <a:gd name="connsiteX0" fmla="*/ 20288 w 21600"/>
              <a:gd name="connsiteY0" fmla="*/ 0 h 21600"/>
              <a:gd name="connsiteX1" fmla="*/ 1577 w 21600"/>
              <a:gd name="connsiteY1" fmla="*/ 11681 h 21600"/>
              <a:gd name="connsiteX2" fmla="*/ 0 w 21600"/>
              <a:gd name="connsiteY2" fmla="*/ 21600 h 21600"/>
              <a:gd name="connsiteX3" fmla="*/ 21600 w 21600"/>
              <a:gd name="connsiteY3" fmla="*/ 8361 h 21600"/>
              <a:gd name="connsiteX4" fmla="*/ 20288 w 21600"/>
              <a:gd name="connsiteY4" fmla="*/ 0 h 21600"/>
              <a:gd name="connsiteX0-1" fmla="*/ 20288 w 23905"/>
              <a:gd name="connsiteY0-2" fmla="*/ 0 h 21600"/>
              <a:gd name="connsiteX1-3" fmla="*/ 1577 w 23905"/>
              <a:gd name="connsiteY1-4" fmla="*/ 11681 h 21600"/>
              <a:gd name="connsiteX2-5" fmla="*/ 0 w 23905"/>
              <a:gd name="connsiteY2-6" fmla="*/ 21600 h 21600"/>
              <a:gd name="connsiteX3-7" fmla="*/ 23905 w 23905"/>
              <a:gd name="connsiteY3-8" fmla="*/ 4585 h 21600"/>
              <a:gd name="connsiteX4-9" fmla="*/ 20288 w 23905"/>
              <a:gd name="connsiteY4-10" fmla="*/ 0 h 21600"/>
              <a:gd name="connsiteX0-11" fmla="*/ 22469 w 23905"/>
              <a:gd name="connsiteY0-12" fmla="*/ 0 h 27044"/>
              <a:gd name="connsiteX1-13" fmla="*/ 1577 w 23905"/>
              <a:gd name="connsiteY1-14" fmla="*/ 17125 h 27044"/>
              <a:gd name="connsiteX2-15" fmla="*/ 0 w 23905"/>
              <a:gd name="connsiteY2-16" fmla="*/ 27044 h 27044"/>
              <a:gd name="connsiteX3-17" fmla="*/ 23905 w 23905"/>
              <a:gd name="connsiteY3-18" fmla="*/ 10029 h 27044"/>
              <a:gd name="connsiteX4-19" fmla="*/ 22469 w 23905"/>
              <a:gd name="connsiteY4-20" fmla="*/ 0 h 270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5" h="27044" extrusionOk="0">
                <a:moveTo>
                  <a:pt x="22469" y="0"/>
                </a:moveTo>
                <a:lnTo>
                  <a:pt x="1577" y="17125"/>
                </a:lnTo>
                <a:lnTo>
                  <a:pt x="0" y="27044"/>
                </a:lnTo>
                <a:lnTo>
                  <a:pt x="23905" y="10029"/>
                </a:lnTo>
                <a:lnTo>
                  <a:pt x="22469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形状"/>
          <p:cNvSpPr/>
          <p:nvPr>
            <p:custDataLst>
              <p:tags r:id="rId10"/>
            </p:custDataLst>
          </p:nvPr>
        </p:nvSpPr>
        <p:spPr>
          <a:xfrm flipV="1">
            <a:off x="894395" y="3431045"/>
            <a:ext cx="2286779" cy="1468120"/>
          </a:xfrm>
          <a:custGeom>
            <a:avLst/>
            <a:gdLst>
              <a:gd name="connsiteX0" fmla="*/ 19955 w 21600"/>
              <a:gd name="connsiteY0" fmla="*/ 0 h 21600"/>
              <a:gd name="connsiteX1" fmla="*/ 1867 w 21600"/>
              <a:gd name="connsiteY1" fmla="*/ 11931 h 21600"/>
              <a:gd name="connsiteX2" fmla="*/ 0 w 21600"/>
              <a:gd name="connsiteY2" fmla="*/ 21600 h 21600"/>
              <a:gd name="connsiteX3" fmla="*/ 21600 w 21600"/>
              <a:gd name="connsiteY3" fmla="*/ 8353 h 21600"/>
              <a:gd name="connsiteX4" fmla="*/ 19955 w 21600"/>
              <a:gd name="connsiteY4" fmla="*/ 0 h 21600"/>
              <a:gd name="connsiteX0-1" fmla="*/ 19955 w 24452"/>
              <a:gd name="connsiteY0-2" fmla="*/ 0 h 21600"/>
              <a:gd name="connsiteX1-3" fmla="*/ 1867 w 24452"/>
              <a:gd name="connsiteY1-4" fmla="*/ 11931 h 21600"/>
              <a:gd name="connsiteX2-5" fmla="*/ 0 w 24452"/>
              <a:gd name="connsiteY2-6" fmla="*/ 21600 h 21600"/>
              <a:gd name="connsiteX3-7" fmla="*/ 24452 w 24452"/>
              <a:gd name="connsiteY3-8" fmla="*/ 4406 h 21600"/>
              <a:gd name="connsiteX4-9" fmla="*/ 19955 w 24452"/>
              <a:gd name="connsiteY4-10" fmla="*/ 0 h 21600"/>
              <a:gd name="connsiteX0-11" fmla="*/ 22705 w 24452"/>
              <a:gd name="connsiteY0-12" fmla="*/ 0 h 27038"/>
              <a:gd name="connsiteX1-13" fmla="*/ 1867 w 24452"/>
              <a:gd name="connsiteY1-14" fmla="*/ 17369 h 27038"/>
              <a:gd name="connsiteX2-15" fmla="*/ 0 w 24452"/>
              <a:gd name="connsiteY2-16" fmla="*/ 27038 h 27038"/>
              <a:gd name="connsiteX3-17" fmla="*/ 24452 w 24452"/>
              <a:gd name="connsiteY3-18" fmla="*/ 9844 h 27038"/>
              <a:gd name="connsiteX4-19" fmla="*/ 22705 w 24452"/>
              <a:gd name="connsiteY4-20" fmla="*/ 0 h 27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52" h="27038" extrusionOk="0">
                <a:moveTo>
                  <a:pt x="22705" y="0"/>
                </a:moveTo>
                <a:lnTo>
                  <a:pt x="1867" y="17369"/>
                </a:lnTo>
                <a:lnTo>
                  <a:pt x="0" y="27038"/>
                </a:lnTo>
                <a:lnTo>
                  <a:pt x="24452" y="9844"/>
                </a:lnTo>
                <a:lnTo>
                  <a:pt x="22705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任意多边形 5"/>
          <p:cNvSpPr/>
          <p:nvPr>
            <p:custDataLst>
              <p:tags r:id="rId11"/>
            </p:custDataLst>
          </p:nvPr>
        </p:nvSpPr>
        <p:spPr>
          <a:xfrm>
            <a:off x="652452" y="2498005"/>
            <a:ext cx="3049849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5917" h="712">
                <a:moveTo>
                  <a:pt x="0" y="0"/>
                </a:moveTo>
                <a:lnTo>
                  <a:pt x="5917" y="0"/>
                </a:lnTo>
                <a:lnTo>
                  <a:pt x="5591" y="712"/>
                </a:lnTo>
                <a:lnTo>
                  <a:pt x="332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语法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误用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8" name="任意多边形 6"/>
          <p:cNvSpPr/>
          <p:nvPr>
            <p:custDataLst>
              <p:tags r:id="rId12"/>
            </p:custDataLst>
          </p:nvPr>
        </p:nvSpPr>
        <p:spPr>
          <a:xfrm>
            <a:off x="916172" y="3429784"/>
            <a:ext cx="24997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878" h="715">
                <a:moveTo>
                  <a:pt x="0" y="0"/>
                </a:moveTo>
                <a:lnTo>
                  <a:pt x="4878" y="0"/>
                </a:lnTo>
                <a:lnTo>
                  <a:pt x="4550" y="715"/>
                </a:lnTo>
                <a:lnTo>
                  <a:pt x="325" y="715"/>
                </a:lnTo>
                <a:lnTo>
                  <a:pt x="0" y="0"/>
                </a:lnTo>
                <a:close/>
              </a:path>
            </a:pathLst>
          </a:custGeom>
          <a:gradFill flip="none">
            <a:gsLst>
              <a:gs pos="57000">
                <a:srgbClr val="8F6FFF"/>
              </a:gs>
              <a:gs pos="0">
                <a:srgbClr val="D7E0F7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方案设计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缺陷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69" name="任意多边形 8"/>
          <p:cNvSpPr/>
          <p:nvPr>
            <p:custDataLst>
              <p:tags r:id="rId13"/>
            </p:custDataLst>
          </p:nvPr>
        </p:nvSpPr>
        <p:spPr>
          <a:xfrm>
            <a:off x="1181829" y="4365888"/>
            <a:ext cx="19989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3846" h="715">
                <a:moveTo>
                  <a:pt x="0" y="0"/>
                </a:moveTo>
                <a:lnTo>
                  <a:pt x="3846" y="0"/>
                </a:lnTo>
                <a:lnTo>
                  <a:pt x="3514" y="715"/>
                </a:lnTo>
                <a:lnTo>
                  <a:pt x="328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解析逻辑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缺陷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27575" y="1173480"/>
            <a:ext cx="5553710" cy="234505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AutoShape 14"/>
          <p:cNvSpPr/>
          <p:nvPr/>
        </p:nvSpPr>
        <p:spPr>
          <a:xfrm>
            <a:off x="5019675" y="1382395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1" name="AutoShape 15"/>
          <p:cNvSpPr/>
          <p:nvPr/>
        </p:nvSpPr>
        <p:spPr>
          <a:xfrm>
            <a:off x="5015230" y="146113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</a:t>
            </a:r>
            <a:r>
              <a:rPr 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br>
              <a:rPr 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建议详情页集成实时翻译 ，                        </a:t>
            </a:r>
            <a:endParaRPr lang="zh-CN" altLang="en-US" sz="13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每次打开等待3-5秒，用户体验极差。</a:t>
            </a:r>
            <a:r>
              <a:rPr lang="zh-CN" alt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endParaRPr lang="zh-CN" altLang="en-US" sz="1300" b="1" i="0" u="none" strike="noStrike">
              <a:solidFill>
                <a:srgbClr val="E5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6"/>
          <p:cNvSpPr/>
          <p:nvPr/>
        </p:nvSpPr>
        <p:spPr>
          <a:xfrm>
            <a:off x="5015230" y="227393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altLang="zh-CN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的修复</a:t>
            </a:r>
            <a:r>
              <a:rPr lang="en-US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br>
              <a:rPr lang="en-US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建议"做成异步"，治标不治本 ，</a:t>
            </a:r>
            <a:endParaRPr lang="zh-CN" altLang="en-US" sz="13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用户打开弹窗就是要立刻看到内容 。 </a:t>
            </a:r>
            <a:endParaRPr lang="zh-CN" altLang="en-US" sz="13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7"/>
          <p:cNvSpPr/>
          <p:nvPr/>
        </p:nvSpPr>
        <p:spPr>
          <a:xfrm>
            <a:off x="5011420" y="304863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6" name="AutoShape 18"/>
          <p:cNvSpPr/>
          <p:nvPr/>
        </p:nvSpPr>
        <p:spPr>
          <a:xfrm>
            <a:off x="5015230" y="317246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rgbClr val="3197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我的纠正：                                     </a:t>
            </a:r>
            <a:endParaRPr lang="zh-CN" altLang="en-US" sz="1200" b="1" i="0" u="none" strike="noStrike">
              <a:solidFill>
                <a:srgbClr val="31979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我决定砍掉实时翻译，改为首次翻译后缓存结果，后续请求直接命中缓存，配合连接池优化数据库查询，优先保证加载速度 。</a:t>
            </a:r>
            <a:endParaRPr lang="zh-CN" altLang="en-US" sz="12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4"/>
          <a:srcRect l="12273" t="-6329" r="4858" b="2278"/>
          <a:stretch>
            <a:fillRect/>
          </a:stretch>
        </p:blipFill>
        <p:spPr>
          <a:xfrm>
            <a:off x="5011420" y="4077335"/>
            <a:ext cx="3888740" cy="52197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5"/>
          <a:srcRect r="-288" b="70614"/>
          <a:stretch>
            <a:fillRect/>
          </a:stretch>
        </p:blipFill>
        <p:spPr>
          <a:xfrm>
            <a:off x="4943475" y="4756785"/>
            <a:ext cx="4993005" cy="1240155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479425" y="476250"/>
            <a:ext cx="2671445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6" name="组合 5"/>
          <p:cNvGrpSpPr/>
          <p:nvPr/>
        </p:nvGrpSpPr>
        <p:grpSpPr>
          <a:xfrm>
            <a:off x="569595" y="414655"/>
            <a:ext cx="4469130" cy="1050290"/>
            <a:chOff x="350" y="332"/>
            <a:chExt cx="10089" cy="1654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FLYING IMPRESSION FID FEIZHAO    qq:1964271550"/>
            <p:cNvSpPr txBox="1"/>
            <p:nvPr>
              <p:custDataLst>
                <p:tags r:id="rId4"/>
              </p:custDataLst>
            </p:nvPr>
          </p:nvSpPr>
          <p:spPr>
            <a:xfrm>
              <a:off x="504" y="332"/>
              <a:ext cx="9935" cy="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协作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开发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l">
                <a:lnSpc>
                  <a:spcPct val="130000"/>
                </a:lnSpc>
              </a:pP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LYING IMPRESSION FID FEIZHAO    qq:1964271550"/>
            <p:cNvSpPr txBox="1"/>
            <p:nvPr>
              <p:custDataLst>
                <p:tags r:id="rId5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 Collaboration Development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" name="左箭头 27"/>
          <p:cNvSpPr/>
          <p:nvPr>
            <p:custDataLst>
              <p:tags r:id="rId7"/>
            </p:custDataLst>
          </p:nvPr>
        </p:nvSpPr>
        <p:spPr>
          <a:xfrm rot="10800000">
            <a:off x="832328" y="4397203"/>
            <a:ext cx="788670" cy="394643"/>
          </a:xfrm>
          <a:prstGeom prst="leftArrow">
            <a:avLst/>
          </a:prstGeom>
          <a:gradFill>
            <a:gsLst>
              <a:gs pos="0">
                <a:srgbClr val="9188E6"/>
              </a:gs>
              <a:gs pos="100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箭头 27"/>
          <p:cNvSpPr/>
          <p:nvPr>
            <p:custDataLst>
              <p:tags r:id="rId8"/>
            </p:custDataLst>
          </p:nvPr>
        </p:nvSpPr>
        <p:spPr>
          <a:xfrm rot="10800000">
            <a:off x="2841716" y="4397202"/>
            <a:ext cx="788670" cy="394643"/>
          </a:xfrm>
          <a:prstGeom prst="leftArrow">
            <a:avLst/>
          </a:prstGeom>
          <a:gradFill>
            <a:gsLst>
              <a:gs pos="100000">
                <a:srgbClr val="9188E6"/>
              </a:gs>
              <a:gs pos="4000">
                <a:srgbClr val="FCFAE3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形状"/>
          <p:cNvSpPr/>
          <p:nvPr>
            <p:custDataLst>
              <p:tags r:id="rId9"/>
            </p:custDataLst>
          </p:nvPr>
        </p:nvSpPr>
        <p:spPr>
          <a:xfrm flipV="1">
            <a:off x="657822" y="2487320"/>
            <a:ext cx="2766476" cy="1466855"/>
          </a:xfrm>
          <a:custGeom>
            <a:avLst/>
            <a:gdLst>
              <a:gd name="connsiteX0" fmla="*/ 20288 w 21600"/>
              <a:gd name="connsiteY0" fmla="*/ 0 h 21600"/>
              <a:gd name="connsiteX1" fmla="*/ 1577 w 21600"/>
              <a:gd name="connsiteY1" fmla="*/ 11681 h 21600"/>
              <a:gd name="connsiteX2" fmla="*/ 0 w 21600"/>
              <a:gd name="connsiteY2" fmla="*/ 21600 h 21600"/>
              <a:gd name="connsiteX3" fmla="*/ 21600 w 21600"/>
              <a:gd name="connsiteY3" fmla="*/ 8361 h 21600"/>
              <a:gd name="connsiteX4" fmla="*/ 20288 w 21600"/>
              <a:gd name="connsiteY4" fmla="*/ 0 h 21600"/>
              <a:gd name="connsiteX0-1" fmla="*/ 20288 w 23905"/>
              <a:gd name="connsiteY0-2" fmla="*/ 0 h 21600"/>
              <a:gd name="connsiteX1-3" fmla="*/ 1577 w 23905"/>
              <a:gd name="connsiteY1-4" fmla="*/ 11681 h 21600"/>
              <a:gd name="connsiteX2-5" fmla="*/ 0 w 23905"/>
              <a:gd name="connsiteY2-6" fmla="*/ 21600 h 21600"/>
              <a:gd name="connsiteX3-7" fmla="*/ 23905 w 23905"/>
              <a:gd name="connsiteY3-8" fmla="*/ 4585 h 21600"/>
              <a:gd name="connsiteX4-9" fmla="*/ 20288 w 23905"/>
              <a:gd name="connsiteY4-10" fmla="*/ 0 h 21600"/>
              <a:gd name="connsiteX0-11" fmla="*/ 22469 w 23905"/>
              <a:gd name="connsiteY0-12" fmla="*/ 0 h 27044"/>
              <a:gd name="connsiteX1-13" fmla="*/ 1577 w 23905"/>
              <a:gd name="connsiteY1-14" fmla="*/ 17125 h 27044"/>
              <a:gd name="connsiteX2-15" fmla="*/ 0 w 23905"/>
              <a:gd name="connsiteY2-16" fmla="*/ 27044 h 27044"/>
              <a:gd name="connsiteX3-17" fmla="*/ 23905 w 23905"/>
              <a:gd name="connsiteY3-18" fmla="*/ 10029 h 27044"/>
              <a:gd name="connsiteX4-19" fmla="*/ 22469 w 23905"/>
              <a:gd name="connsiteY4-20" fmla="*/ 0 h 270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5" h="27044" extrusionOk="0">
                <a:moveTo>
                  <a:pt x="22469" y="0"/>
                </a:moveTo>
                <a:lnTo>
                  <a:pt x="1577" y="17125"/>
                </a:lnTo>
                <a:lnTo>
                  <a:pt x="0" y="27044"/>
                </a:lnTo>
                <a:lnTo>
                  <a:pt x="23905" y="10029"/>
                </a:lnTo>
                <a:lnTo>
                  <a:pt x="22469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形状"/>
          <p:cNvSpPr/>
          <p:nvPr>
            <p:custDataLst>
              <p:tags r:id="rId10"/>
            </p:custDataLst>
          </p:nvPr>
        </p:nvSpPr>
        <p:spPr>
          <a:xfrm flipV="1">
            <a:off x="897085" y="3422155"/>
            <a:ext cx="2286779" cy="1468120"/>
          </a:xfrm>
          <a:custGeom>
            <a:avLst/>
            <a:gdLst>
              <a:gd name="connsiteX0" fmla="*/ 19955 w 21600"/>
              <a:gd name="connsiteY0" fmla="*/ 0 h 21600"/>
              <a:gd name="connsiteX1" fmla="*/ 1867 w 21600"/>
              <a:gd name="connsiteY1" fmla="*/ 11931 h 21600"/>
              <a:gd name="connsiteX2" fmla="*/ 0 w 21600"/>
              <a:gd name="connsiteY2" fmla="*/ 21600 h 21600"/>
              <a:gd name="connsiteX3" fmla="*/ 21600 w 21600"/>
              <a:gd name="connsiteY3" fmla="*/ 8353 h 21600"/>
              <a:gd name="connsiteX4" fmla="*/ 19955 w 21600"/>
              <a:gd name="connsiteY4" fmla="*/ 0 h 21600"/>
              <a:gd name="connsiteX0-1" fmla="*/ 19955 w 24452"/>
              <a:gd name="connsiteY0-2" fmla="*/ 0 h 21600"/>
              <a:gd name="connsiteX1-3" fmla="*/ 1867 w 24452"/>
              <a:gd name="connsiteY1-4" fmla="*/ 11931 h 21600"/>
              <a:gd name="connsiteX2-5" fmla="*/ 0 w 24452"/>
              <a:gd name="connsiteY2-6" fmla="*/ 21600 h 21600"/>
              <a:gd name="connsiteX3-7" fmla="*/ 24452 w 24452"/>
              <a:gd name="connsiteY3-8" fmla="*/ 4406 h 21600"/>
              <a:gd name="connsiteX4-9" fmla="*/ 19955 w 24452"/>
              <a:gd name="connsiteY4-10" fmla="*/ 0 h 21600"/>
              <a:gd name="connsiteX0-11" fmla="*/ 22705 w 24452"/>
              <a:gd name="connsiteY0-12" fmla="*/ 0 h 27038"/>
              <a:gd name="connsiteX1-13" fmla="*/ 1867 w 24452"/>
              <a:gd name="connsiteY1-14" fmla="*/ 17369 h 27038"/>
              <a:gd name="connsiteX2-15" fmla="*/ 0 w 24452"/>
              <a:gd name="connsiteY2-16" fmla="*/ 27038 h 27038"/>
              <a:gd name="connsiteX3-17" fmla="*/ 24452 w 24452"/>
              <a:gd name="connsiteY3-18" fmla="*/ 9844 h 27038"/>
              <a:gd name="connsiteX4-19" fmla="*/ 22705 w 24452"/>
              <a:gd name="connsiteY4-20" fmla="*/ 0 h 27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452" h="27038" extrusionOk="0">
                <a:moveTo>
                  <a:pt x="22705" y="0"/>
                </a:moveTo>
                <a:lnTo>
                  <a:pt x="1867" y="17369"/>
                </a:lnTo>
                <a:lnTo>
                  <a:pt x="0" y="27038"/>
                </a:lnTo>
                <a:lnTo>
                  <a:pt x="24452" y="9844"/>
                </a:lnTo>
                <a:lnTo>
                  <a:pt x="22705" y="0"/>
                </a:lnTo>
                <a:close/>
              </a:path>
            </a:pathLst>
          </a:custGeom>
          <a:solidFill>
            <a:srgbClr val="D7E0F7"/>
          </a:solidFill>
          <a:ln w="12700">
            <a:miter lim="400000"/>
          </a:ln>
        </p:spPr>
        <p:txBody>
          <a:bodyPr tIns="45720" bIns="45720">
            <a:normAutofit/>
          </a:bodyPr>
          <a:lstStyle/>
          <a:p>
            <a:pPr>
              <a:lnSpc>
                <a:spcPct val="120000"/>
              </a:lnSpc>
            </a:pPr>
            <a:endParaRPr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5"/>
          <p:cNvSpPr/>
          <p:nvPr>
            <p:custDataLst>
              <p:tags r:id="rId11"/>
            </p:custDataLst>
          </p:nvPr>
        </p:nvSpPr>
        <p:spPr>
          <a:xfrm>
            <a:off x="655142" y="2489115"/>
            <a:ext cx="3049849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5917" h="712">
                <a:moveTo>
                  <a:pt x="0" y="0"/>
                </a:moveTo>
                <a:lnTo>
                  <a:pt x="5917" y="0"/>
                </a:lnTo>
                <a:lnTo>
                  <a:pt x="5591" y="712"/>
                </a:lnTo>
                <a:lnTo>
                  <a:pt x="332" y="7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语法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误用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8" name="任意多边形 6"/>
          <p:cNvSpPr/>
          <p:nvPr>
            <p:custDataLst>
              <p:tags r:id="rId12"/>
            </p:custDataLst>
          </p:nvPr>
        </p:nvSpPr>
        <p:spPr>
          <a:xfrm>
            <a:off x="918862" y="3420894"/>
            <a:ext cx="24997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878" h="715">
                <a:moveTo>
                  <a:pt x="0" y="0"/>
                </a:moveTo>
                <a:lnTo>
                  <a:pt x="4878" y="0"/>
                </a:lnTo>
                <a:lnTo>
                  <a:pt x="4550" y="715"/>
                </a:lnTo>
                <a:lnTo>
                  <a:pt x="325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DEFF"/>
              </a:gs>
              <a:gs pos="100000">
                <a:srgbClr val="CFE7F5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方案设计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缺陷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9" name="任意多边形 8"/>
          <p:cNvSpPr/>
          <p:nvPr>
            <p:custDataLst>
              <p:tags r:id="rId13"/>
            </p:custDataLst>
          </p:nvPr>
        </p:nvSpPr>
        <p:spPr>
          <a:xfrm>
            <a:off x="1184519" y="4356998"/>
            <a:ext cx="1998922" cy="54000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3846" h="715">
                <a:moveTo>
                  <a:pt x="0" y="0"/>
                </a:moveTo>
                <a:lnTo>
                  <a:pt x="3846" y="0"/>
                </a:lnTo>
                <a:lnTo>
                  <a:pt x="3514" y="715"/>
                </a:lnTo>
                <a:lnTo>
                  <a:pt x="328" y="7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7000">
                <a:srgbClr val="8F6FFF"/>
              </a:gs>
              <a:gs pos="0">
                <a:srgbClr val="D7E0F7"/>
              </a:gs>
            </a:gsLst>
            <a:lin ang="0" scaled="0"/>
          </a:gradFill>
          <a:ln w="12700">
            <a:miter lim="400000"/>
          </a:ln>
          <a:effectLst>
            <a:outerShdw blurRad="139700" dist="50800" dir="2700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4572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解析逻辑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缺陷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727575" y="1173480"/>
            <a:ext cx="5553710" cy="234505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AutoShape 14"/>
          <p:cNvSpPr/>
          <p:nvPr/>
        </p:nvSpPr>
        <p:spPr>
          <a:xfrm>
            <a:off x="5019675" y="1382395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7" name="AutoShape 15"/>
          <p:cNvSpPr/>
          <p:nvPr/>
        </p:nvSpPr>
        <p:spPr>
          <a:xfrm>
            <a:off x="5015230" y="146113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</a:t>
            </a:r>
            <a:r>
              <a:rPr 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br>
              <a:rPr lang="en-US" sz="13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返回内容带 </a:t>
            </a:r>
            <a:r>
              <a:rPr lang="en-US" altLang="zh-CN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markdown </a:t>
            </a: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代码块 ，</a:t>
            </a:r>
            <a:endParaRPr lang="zh-CN" altLang="en-US" sz="13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json.loads() </a:t>
            </a: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解析失败  。 </a:t>
            </a:r>
            <a:endParaRPr lang="zh-CN" altLang="en-US" sz="13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16"/>
          <p:cNvSpPr/>
          <p:nvPr/>
        </p:nvSpPr>
        <p:spPr>
          <a:xfrm>
            <a:off x="5015230" y="227393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altLang="zh-CN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的修复</a:t>
            </a:r>
            <a:r>
              <a:rPr lang="en-US" sz="13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zh-CN" altLang="en-US" sz="13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只清理了开头的 ```</a:t>
            </a:r>
            <a:r>
              <a:rPr lang="en-US" altLang="zh-CN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</a:t>
            </a:r>
            <a:endParaRPr lang="en-US" altLang="zh-CN" sz="13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结尾的 ``` 没处理，继续报错 。</a:t>
            </a:r>
            <a:endParaRPr lang="zh-CN" altLang="en-US" sz="13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7"/>
          <p:cNvSpPr/>
          <p:nvPr/>
        </p:nvSpPr>
        <p:spPr>
          <a:xfrm>
            <a:off x="5011420" y="304863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22" name="AutoShape 18"/>
          <p:cNvSpPr/>
          <p:nvPr/>
        </p:nvSpPr>
        <p:spPr>
          <a:xfrm>
            <a:off x="5015230" y="317246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rgbClr val="3197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我的纠正：                                     </a:t>
            </a:r>
            <a:endParaRPr lang="zh-CN" altLang="en-US" sz="1200" b="1" i="0" u="none" strike="noStrike">
              <a:solidFill>
                <a:srgbClr val="31979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不管开头结尾，正则直接提取 { } 里的 </a:t>
            </a:r>
            <a:r>
              <a:rPr lang="en-US" altLang="zh-CN" sz="12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 </a:t>
            </a:r>
            <a:endParaRPr lang="en-US" altLang="zh-CN" sz="12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altLang="zh-CN" sz="12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re.search(r'\{[\s\S]*\}', text)  </a:t>
            </a:r>
            <a:r>
              <a:rPr lang="zh-CN" altLang="en-US" sz="1200" b="1" i="0" u="none" strike="noStrike">
                <a:solidFill>
                  <a:schemeClr val="bg2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200" b="1" i="0" u="none" strike="noStrike">
              <a:solidFill>
                <a:schemeClr val="bg2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4"/>
          <a:srcRect t="55143" r="45202"/>
          <a:stretch>
            <a:fillRect/>
          </a:stretch>
        </p:blipFill>
        <p:spPr>
          <a:xfrm>
            <a:off x="4655820" y="3975735"/>
            <a:ext cx="4662805" cy="1998980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/>
        </p:nvSpPr>
        <p:spPr>
          <a:xfrm>
            <a:off x="6311900" y="1845310"/>
            <a:ext cx="5553710" cy="234505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568960" y="1807845"/>
            <a:ext cx="5443855" cy="436435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lnSpc>
                <a:spcPct val="117000"/>
              </a:lnSpc>
              <a:defRPr/>
            </a:pPr>
            <a:endParaRPr lang="zh-CN" altLang="en-US" sz="12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479425" y="476250"/>
            <a:ext cx="2671445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6" name="组合 5"/>
          <p:cNvGrpSpPr/>
          <p:nvPr/>
        </p:nvGrpSpPr>
        <p:grpSpPr>
          <a:xfrm>
            <a:off x="569595" y="414655"/>
            <a:ext cx="4469130" cy="1050290"/>
            <a:chOff x="350" y="332"/>
            <a:chExt cx="10089" cy="1654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350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FLYING IMPRESSION FID FEIZHAO    qq:1964271550"/>
            <p:cNvSpPr txBox="1"/>
            <p:nvPr>
              <p:custDataLst>
                <p:tags r:id="rId4"/>
              </p:custDataLst>
            </p:nvPr>
          </p:nvSpPr>
          <p:spPr>
            <a:xfrm>
              <a:off x="504" y="332"/>
              <a:ext cx="9935" cy="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协作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开发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l">
                <a:lnSpc>
                  <a:spcPct val="130000"/>
                </a:lnSpc>
              </a:pP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LYING IMPRESSION FID FEIZHAO    qq:1964271550"/>
            <p:cNvSpPr txBox="1"/>
            <p:nvPr>
              <p:custDataLst>
                <p:tags r:id="rId5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 Collaboration Development</a:t>
              </a:r>
              <a:endPara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2" name="AutoShape 4"/>
          <p:cNvSpPr/>
          <p:nvPr/>
        </p:nvSpPr>
        <p:spPr>
          <a:xfrm>
            <a:off x="762000" y="1333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37" name="AutoShape 14"/>
          <p:cNvSpPr/>
          <p:nvPr/>
        </p:nvSpPr>
        <p:spPr>
          <a:xfrm>
            <a:off x="911225" y="206121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197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边界分析一：票房</a:t>
            </a:r>
            <a:r>
              <a:rPr lang="zh-CN" altLang="en-US" sz="1800" b="1" i="0" u="none" strike="noStrike">
                <a:solidFill>
                  <a:srgbClr val="3197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</a:t>
            </a:r>
            <a:endParaRPr lang="zh-CN" altLang="en-US" sz="1800" b="1" i="0" u="none" strike="noStrike">
              <a:solidFill>
                <a:srgbClr val="31979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15"/>
          <p:cNvSpPr/>
          <p:nvPr/>
        </p:nvSpPr>
        <p:spPr>
          <a:xfrm>
            <a:off x="6604000" y="268922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zh-CN" altLang="en-US" sz="1100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14"/>
          <p:cNvSpPr/>
          <p:nvPr/>
        </p:nvSpPr>
        <p:spPr>
          <a:xfrm>
            <a:off x="6604000" y="2133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197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边界分析</a:t>
            </a:r>
            <a:r>
              <a:rPr lang="zh-CN" altLang="en-US" sz="1800" b="1" i="0" u="none" strike="noStrike">
                <a:solidFill>
                  <a:srgbClr val="3197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二：数据源选型</a:t>
            </a:r>
            <a:endParaRPr lang="zh-CN" altLang="en-US" sz="1800" b="1" i="0" u="none" strike="noStrike">
              <a:solidFill>
                <a:srgbClr val="31979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9470" y="2781300"/>
            <a:ext cx="4744720" cy="847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17000"/>
              </a:lnSpc>
              <a:defRPr/>
            </a:pPr>
            <a:r>
              <a:rPr lang="en-US" altLang="zh-CN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能算数，但它不懂电影市场。它以为票房 = 预算 × 系数，但实际上票房受几十个因素影响，系数只是最粗糙的估算。</a:t>
            </a:r>
            <a:br>
              <a:rPr lang="zh-CN" altLang="en-US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你问</a:t>
            </a:r>
            <a:r>
              <a:rPr lang="en-US" altLang="zh-CN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AI“</a:t>
            </a:r>
            <a:r>
              <a:rPr lang="zh-CN" altLang="en-US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这个预测准吗”，</a:t>
            </a:r>
            <a:r>
              <a:rPr lang="en-US" altLang="zh-CN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会承认这只是趣味估算。</a:t>
            </a:r>
            <a:endParaRPr lang="zh-CN" altLang="en-US" sz="1400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149725"/>
            <a:ext cx="5193030" cy="116205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5" name="AutoShape 15"/>
          <p:cNvSpPr/>
          <p:nvPr/>
        </p:nvSpPr>
        <p:spPr>
          <a:xfrm>
            <a:off x="6604000" y="268922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zh-CN" altLang="en-US" sz="1100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99555" y="2708910"/>
            <a:ext cx="4867910" cy="1116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17000"/>
              </a:lnSpc>
              <a:buFont typeface="Wingdings" panose="05000000000000000000" charset="0"/>
              <a:defRPr/>
            </a:pPr>
            <a:r>
              <a:rPr lang="en-US" sz="1500" b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500" b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能做</a:t>
            </a:r>
            <a:endParaRPr lang="zh-CN" altLang="en-US" sz="1500" b="1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解释字体反爬的原理</a:t>
            </a:r>
            <a:endParaRPr lang="en-US" altLang="zh-CN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给出</a:t>
            </a:r>
            <a:r>
              <a:rPr lang="en-US" altLang="zh-CN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fontTools</a:t>
            </a: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</a:t>
            </a:r>
            <a:r>
              <a:rPr lang="en-US" altLang="zh-CN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woff</a:t>
            </a: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文件的技术方案</a:t>
            </a:r>
            <a:endParaRPr lang="en-US" altLang="zh-CN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提供代码示例（以形识数）</a:t>
            </a:r>
            <a:endParaRPr lang="zh-CN" altLang="en-US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99555" y="4005580"/>
            <a:ext cx="6096000" cy="13690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17000"/>
              </a:lnSpc>
              <a:buFont typeface="Wingdings" panose="05000000000000000000" charset="0"/>
              <a:defRPr/>
            </a:pPr>
            <a:r>
              <a:rPr lang="en-US" sz="1500" b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500" b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不能做</a:t>
            </a:r>
            <a:endParaRPr lang="zh-CN" altLang="en-US" sz="1500" b="1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评估“爬猫眼数据”这件事的法律风险</a:t>
            </a:r>
            <a:endParaRPr lang="en-US" altLang="zh-CN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判断猫眼会不会封</a:t>
            </a:r>
            <a:r>
              <a:rPr lang="en-US" altLang="zh-CN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IP、</a:t>
            </a: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会不会追究</a:t>
            </a:r>
            <a:endParaRPr lang="en-US" altLang="zh-CN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权衡“技术可行”和“合规可行”哪个更重要</a:t>
            </a:r>
            <a:endParaRPr lang="en-US" altLang="zh-CN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  <a:defRPr/>
            </a:pP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分批次爬取，只爬取</a:t>
            </a:r>
            <a:r>
              <a:rPr lang="zh-CN" alt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评分</a:t>
            </a:r>
            <a:endParaRPr lang="zh-CN" altLang="en-US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 rot="10800000">
            <a:off x="0" y="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479425" y="476250"/>
            <a:ext cx="234696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85470" y="414655"/>
            <a:ext cx="4258310" cy="1050290"/>
            <a:chOff x="375" y="332"/>
            <a:chExt cx="10064" cy="1654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 flipH="1">
              <a:off x="375" y="520"/>
              <a:ext cx="120" cy="875"/>
            </a:xfrm>
            <a:prstGeom prst="rect">
              <a:avLst/>
            </a:prstGeom>
            <a:gradFill flip="none" rotWithShape="1">
              <a:gsLst>
                <a:gs pos="100000">
                  <a:srgbClr val="89A3E6"/>
                </a:gs>
                <a:gs pos="4000">
                  <a:srgbClr val="FCFAE3"/>
                </a:gs>
              </a:gsLst>
              <a:lin ang="135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FLYING IMPRESSION FID FEIZHAO    qq:1964271550"/>
            <p:cNvSpPr txBox="1"/>
            <p:nvPr>
              <p:custDataLst>
                <p:tags r:id="rId4"/>
              </p:custDataLst>
            </p:nvPr>
          </p:nvSpPr>
          <p:spPr>
            <a:xfrm>
              <a:off x="504" y="332"/>
              <a:ext cx="9935" cy="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总结</a:t>
              </a:r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展望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l">
                <a:lnSpc>
                  <a:spcPct val="130000"/>
                </a:lnSpc>
              </a:pP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LYING IMPRESSION FID FEIZHAO    qq:1964271550"/>
            <p:cNvSpPr txBox="1"/>
            <p:nvPr>
              <p:custDataLst>
                <p:tags r:id="rId5"/>
              </p:custDataLst>
            </p:nvPr>
          </p:nvSpPr>
          <p:spPr>
            <a:xfrm>
              <a:off x="543" y="1061"/>
              <a:ext cx="8727" cy="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Summary and Outlook</a:t>
              </a:r>
              <a:endPara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0" y="6751320"/>
            <a:ext cx="12192000" cy="106680"/>
          </a:xfrm>
          <a:prstGeom prst="rect">
            <a:avLst/>
          </a:prstGeom>
          <a:gradFill flip="none" rotWithShape="1">
            <a:gsLst>
              <a:gs pos="100000">
                <a:srgbClr val="89A3E6"/>
              </a:gs>
              <a:gs pos="4000">
                <a:srgbClr val="FCFAE3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utoShape 4"/>
          <p:cNvSpPr/>
          <p:nvPr/>
        </p:nvSpPr>
        <p:spPr>
          <a:xfrm>
            <a:off x="1016000" y="19050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已实现功能</a:t>
            </a:r>
            <a:endParaRPr lang="en-US" sz="1100"/>
          </a:p>
        </p:txBody>
      </p:sp>
      <p:pic>
        <p:nvPicPr>
          <p:cNvPr id="1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2667000"/>
            <a:ext cx="304800" cy="304800"/>
          </a:xfrm>
          <a:prstGeom prst="rect">
            <a:avLst/>
          </a:prstGeom>
        </p:spPr>
      </p:pic>
      <p:sp>
        <p:nvSpPr>
          <p:cNvPr id="16" name="AutoShape 6"/>
          <p:cNvSpPr/>
          <p:nvPr/>
        </p:nvSpPr>
        <p:spPr>
          <a:xfrm>
            <a:off x="1524000" y="2641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双源异构数据整合</a:t>
            </a:r>
            <a:b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 TMDB 全球影视库与猫眼中国票房数据，构建了完整的多源数据融合底座，打破信息孤岛。</a:t>
            </a:r>
            <a:endParaRPr lang="en-US" sz="1100"/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810000"/>
            <a:ext cx="304800" cy="304800"/>
          </a:xfrm>
          <a:prstGeom prst="rect">
            <a:avLst/>
          </a:prstGeom>
        </p:spPr>
      </p:pic>
      <p:sp>
        <p:nvSpPr>
          <p:cNvPr id="18" name="AutoShape 8"/>
          <p:cNvSpPr/>
          <p:nvPr/>
        </p:nvSpPr>
        <p:spPr>
          <a:xfrm>
            <a:off x="1524000" y="3784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5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</a:t>
            </a:r>
            <a:r>
              <a:rPr lang="en-US" sz="15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维数据可视化洞察</a:t>
            </a:r>
            <a:b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实现上映趋势、票房曲线、类型占比及评分分布的动态交互展示，让数据价值直观可见。</a:t>
            </a:r>
            <a:endParaRPr lang="en-US" sz="1100"/>
          </a:p>
        </p:txBody>
      </p:sp>
      <p:pic>
        <p:nvPicPr>
          <p:cNvPr id="28" name="Pictur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29" name="AutoShape 10"/>
          <p:cNvSpPr/>
          <p:nvPr/>
        </p:nvSpPr>
        <p:spPr>
          <a:xfrm>
            <a:off x="1524000" y="4927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智能交互融合</a:t>
            </a:r>
            <a:b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创新性引入大模型能力，支持自然语言问答与个性化推荐，并实现基于AI的票房趋势预测。</a:t>
            </a:r>
            <a:endParaRPr lang="en-US" sz="1100"/>
          </a:p>
        </p:txBody>
      </p:sp>
      <p:sp>
        <p:nvSpPr>
          <p:cNvPr id="30" name="AutoShape 11"/>
          <p:cNvSpPr/>
          <p:nvPr/>
        </p:nvSpPr>
        <p:spPr>
          <a:xfrm>
            <a:off x="6604000" y="19050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未来改进方向</a:t>
            </a:r>
            <a:endParaRPr lang="en-US" sz="1100"/>
          </a:p>
        </p:txBody>
      </p:sp>
      <p:pic>
        <p:nvPicPr>
          <p:cNvPr id="31" name="Picture 1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2667000"/>
            <a:ext cx="304800" cy="304800"/>
          </a:xfrm>
          <a:prstGeom prst="rect">
            <a:avLst/>
          </a:prstGeom>
        </p:spPr>
      </p:pic>
      <p:sp>
        <p:nvSpPr>
          <p:cNvPr id="32" name="AutoShape 13"/>
          <p:cNvSpPr/>
          <p:nvPr/>
        </p:nvSpPr>
        <p:spPr>
          <a:xfrm>
            <a:off x="7112000" y="26416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预测模型深度迭代</a:t>
            </a:r>
            <a:b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引入档期竞争力、主创影响力、宣发投入强度等特征因子，构建更精准的票房预测模型。</a:t>
            </a:r>
            <a:endParaRPr lang="en-US" sz="1100"/>
          </a:p>
        </p:txBody>
      </p:sp>
      <p:pic>
        <p:nvPicPr>
          <p:cNvPr id="33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3810000"/>
            <a:ext cx="304800" cy="304800"/>
          </a:xfrm>
          <a:prstGeom prst="rect">
            <a:avLst/>
          </a:prstGeom>
        </p:spPr>
      </p:pic>
      <p:sp>
        <p:nvSpPr>
          <p:cNvPr id="36" name="AutoShape 15"/>
          <p:cNvSpPr/>
          <p:nvPr/>
        </p:nvSpPr>
        <p:spPr>
          <a:xfrm>
            <a:off x="7112000" y="37846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全链路数据自动化</a:t>
            </a:r>
            <a:b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开发定时爬虫与增量同步任务，实现从数据抓取、清洗到入库的全流程自动化，减少人工干预。</a:t>
            </a:r>
            <a:endParaRPr lang="en-US" sz="1100"/>
          </a:p>
        </p:txBody>
      </p:sp>
      <p:pic>
        <p:nvPicPr>
          <p:cNvPr id="37" name="Picture 16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04000" y="4953000"/>
            <a:ext cx="304800" cy="304800"/>
          </a:xfrm>
          <a:prstGeom prst="rect">
            <a:avLst/>
          </a:prstGeom>
        </p:spPr>
      </p:pic>
      <p:sp>
        <p:nvSpPr>
          <p:cNvPr id="38" name="AutoShape 17"/>
          <p:cNvSpPr/>
          <p:nvPr/>
        </p:nvSpPr>
        <p:spPr>
          <a:xfrm>
            <a:off x="7112000" y="49276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数据结构与性能升级</a:t>
            </a:r>
            <a:b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将影片类型等标签字段重构为JSON数组存储，优化复杂查询的索引策略，提升高并发响应速度。</a:t>
            </a:r>
            <a:endParaRPr lang="en-US" sz="1100"/>
          </a:p>
        </p:txBody>
      </p:sp>
      <p:sp>
        <p:nvSpPr>
          <p:cNvPr id="46" name="圆角矩形 45"/>
          <p:cNvSpPr/>
          <p:nvPr/>
        </p:nvSpPr>
        <p:spPr>
          <a:xfrm>
            <a:off x="695325" y="1628775"/>
            <a:ext cx="5443855" cy="436435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6383655" y="1628775"/>
            <a:ext cx="5443855" cy="4364355"/>
          </a:xfrm>
          <a:prstGeom prst="roundRect">
            <a:avLst/>
          </a:prstGeom>
          <a:gradFill>
            <a:gsLst>
              <a:gs pos="0">
                <a:srgbClr val="FCFAE3">
                  <a:alpha val="0"/>
                </a:srgbClr>
              </a:gs>
              <a:gs pos="100000">
                <a:srgbClr val="D7E0F7">
                  <a:alpha val="46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/>
          <p:cNvSpPr/>
          <p:nvPr>
            <p:custDataLst>
              <p:tags r:id="rId1"/>
            </p:custDataLst>
          </p:nvPr>
        </p:nvSpPr>
        <p:spPr>
          <a:xfrm>
            <a:off x="582930" y="5571490"/>
            <a:ext cx="685800" cy="224155"/>
          </a:xfrm>
          <a:prstGeom prst="rect">
            <a:avLst/>
          </a:prstGeom>
          <a:gradFill>
            <a:gsLst>
              <a:gs pos="0">
                <a:srgbClr val="DEE6FF"/>
              </a:gs>
              <a:gs pos="100000">
                <a:srgbClr val="FCFAE3">
                  <a:alpha val="31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8" name="矩形 77"/>
          <p:cNvSpPr/>
          <p:nvPr/>
        </p:nvSpPr>
        <p:spPr>
          <a:xfrm>
            <a:off x="3463925" y="3141345"/>
            <a:ext cx="5264150" cy="697230"/>
          </a:xfrm>
          <a:prstGeom prst="rect">
            <a:avLst/>
          </a:prstGeom>
          <a:solidFill>
            <a:srgbClr val="FCFCFF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180" y="285750"/>
            <a:ext cx="7186295" cy="65068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575" y="5789295"/>
            <a:ext cx="6067425" cy="609600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3746500" y="1847215"/>
            <a:ext cx="46983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zh-CN" sz="5400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ovies-</a:t>
            </a:r>
            <a:r>
              <a:rPr lang="en-US" altLang="zh-CN" sz="5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sz="5400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ox</a:t>
            </a:r>
            <a:endParaRPr lang="en-US" altLang="zh-CN" sz="5400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4"/>
            </p:custDataLst>
          </p:nvPr>
        </p:nvSpPr>
        <p:spPr>
          <a:xfrm>
            <a:off x="3377565" y="3234055"/>
            <a:ext cx="51111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电影票房数据</a:t>
            </a: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可视化系统</a:t>
            </a:r>
            <a:endParaRPr lang="zh-CN" alt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85775" y="5799455"/>
            <a:ext cx="507746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600" dirty="0">
              <a:solidFill>
                <a:srgbClr val="1D3B89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24470" y="501332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rgbClr val="8AA4E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感谢聆听</a:t>
            </a:r>
            <a:endParaRPr lang="zh-CN" altLang="en-US" sz="5400" dirty="0">
              <a:solidFill>
                <a:srgbClr val="8AA4E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8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9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0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1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2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3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4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5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6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7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8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19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0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1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2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3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4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5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6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7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8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29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30.xml><?xml version="1.0" encoding="utf-8"?>
<p:tagLst xmlns:p="http://schemas.openxmlformats.org/presentationml/2006/main">
  <p:tag name="KSO_WM_DIAGRAM_VIRTUALLY_FRAME" val="{&quot;height&quot;:325,&quot;left&quot;:83,&quot;top&quot;:145.15,&quot;width&quot;:815.35}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TABLE_ENDDRAG_ORIGIN_RECT" val="427*328"/>
  <p:tag name="TABLE_ENDDRAG_RECT" val="514*102*427*328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4"/>
  <p:tag name="KSO_WM_UNIT_ID" val="diagram20230948_1*o_h_i*1_1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4"/>
  <p:tag name="KSO_WM_UNIT_ID" val="diagram20230948_1*o_h_i*1_2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4"/>
  <p:tag name="KSO_WM_UNIT_ID" val="diagram20230948_1*o_h_i*1_3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4"/>
  <p:tag name="KSO_WM_UNIT_ID" val="diagram20230948_1*o_h_i*1_4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0948_1*o_h_a*1_1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获取"/>
  <p:tag name="KSO_WM_UNIT_FILL_TYPE" val="3"/>
  <p:tag name="KSO_WM_DIAGRAM_USE_COLOR_VALUE" val="{&quot;color_scheme&quot;:1,&quot;color_type&quot;:1,&quot;theme_color_indexes&quot;:[]}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0948_1*o_h_a*1_2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gradient&quot;:[{&quot;brightness&quot;:-0.25,&quot;colorType&quot;:1,&quot;foreColorIndex&quot;:5,&quot;pos&quot;:1,&quot;transparency&quot;:0},{&quot;brightness&quot;:0.1599999964237213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激活"/>
  <p:tag name="KSO_WM_UNIT_FILL_TYPE" val="3"/>
  <p:tag name="KSO_WM_DIAGRAM_USE_COLOR_VALUE" val="{&quot;color_scheme&quot;:1,&quot;color_type&quot;:1,&quot;theme_color_indexes&quot;:[]}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0948_1*o_h_a*1_3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gradient&quot;:[{&quot;brightness&quot;:0,&quot;colorType&quot;:1,&quot;foreColorIndex&quot;:5,&quot;pos&quot;:0.7699999809265137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"/>
  <p:tag name="KSO_WM_UNIT_PRESET_TEXT" val="留存"/>
  <p:tag name="KSO_WM_UNIT_FILL_TYPE" val="3"/>
  <p:tag name="KSO_WM_DIAGRAM_USE_COLOR_VALUE" val="{&quot;color_scheme&quot;:1,&quot;color_type&quot;:1,&quot;theme_color_indexes&quot;:[]}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4_1"/>
  <p:tag name="KSO_WM_UNIT_ID" val="diagram20230948_1*o_h_a*1_4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增加"/>
  <p:tag name="KSO_WM_UNIT_FILL_TYPE" val="3"/>
  <p:tag name="KSO_WM_DIAGRAM_USE_COLOR_VALUE" val="{&quot;color_scheme&quot;:1,&quot;color_type&quot;:1,&quot;theme_color_indexes&quot;:[]}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5_1"/>
  <p:tag name="KSO_WM_UNIT_ID" val="diagram20230948_1*o_h_a*1_5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6000000238418579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传播"/>
  <p:tag name="KSO_WM_UNIT_FILL_TYPE" val="3"/>
  <p:tag name="KSO_WM_DIAGRAM_USE_COLOR_VALUE" val="{&quot;color_scheme&quot;:1,&quot;color_type&quot;:1,&quot;theme_color_indexes&quot;:[]}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4"/>
  <p:tag name="KSO_WM_UNIT_ID" val="diagram20230948_1*o_h_i*1_1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4"/>
  <p:tag name="KSO_WM_UNIT_ID" val="diagram20230948_1*o_h_i*1_2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4"/>
  <p:tag name="KSO_WM_UNIT_ID" val="diagram20230948_1*o_h_i*1_3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4"/>
  <p:tag name="KSO_WM_UNIT_ID" val="diagram20230948_1*o_h_i*1_4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0948_1*o_h_a*1_1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获取"/>
  <p:tag name="KSO_WM_UNIT_FILL_TYPE" val="3"/>
  <p:tag name="KSO_WM_DIAGRAM_USE_COLOR_VALUE" val="{&quot;color_scheme&quot;:1,&quot;color_type&quot;:1,&quot;theme_color_indexes&quot;:[]}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0948_1*o_h_a*1_2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gradient&quot;:[{&quot;brightness&quot;:-0.25,&quot;colorType&quot;:1,&quot;foreColorIndex&quot;:5,&quot;pos&quot;:1,&quot;transparency&quot;:0},{&quot;brightness&quot;:0.1599999964237213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激活"/>
  <p:tag name="KSO_WM_UNIT_FILL_TYPE" val="3"/>
  <p:tag name="KSO_WM_DIAGRAM_USE_COLOR_VALUE" val="{&quot;color_scheme&quot;:1,&quot;color_type&quot;:1,&quot;theme_color_indexes&quot;:[]}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0948_1*o_h_a*1_3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gradient&quot;:[{&quot;brightness&quot;:0,&quot;colorType&quot;:1,&quot;foreColorIndex&quot;:5,&quot;pos&quot;:0.7699999809265137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"/>
  <p:tag name="KSO_WM_UNIT_PRESET_TEXT" val="留存"/>
  <p:tag name="KSO_WM_UNIT_FILL_TYPE" val="3"/>
  <p:tag name="KSO_WM_DIAGRAM_USE_COLOR_VALUE" val="{&quot;color_scheme&quot;:1,&quot;color_type&quot;:1,&quot;theme_color_indexes&quot;:[]}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4_1"/>
  <p:tag name="KSO_WM_UNIT_ID" val="diagram20230948_1*o_h_a*1_4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增加"/>
  <p:tag name="KSO_WM_UNIT_FILL_TYPE" val="3"/>
  <p:tag name="KSO_WM_DIAGRAM_USE_COLOR_VALUE" val="{&quot;color_scheme&quot;:1,&quot;color_type&quot;:1,&quot;theme_color_indexes&quot;:[]}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5_1"/>
  <p:tag name="KSO_WM_UNIT_ID" val="diagram20230948_1*o_h_a*1_5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6000000238418579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传播"/>
  <p:tag name="KSO_WM_UNIT_FILL_TYPE" val="3"/>
  <p:tag name="KSO_WM_DIAGRAM_USE_COLOR_VALUE" val="{&quot;color_scheme&quot;:1,&quot;color_type&quot;:1,&quot;theme_color_indexes&quot;:[]}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4"/>
  <p:tag name="KSO_WM_UNIT_ID" val="diagram20230948_1*o_h_i*1_1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4"/>
  <p:tag name="KSO_WM_UNIT_ID" val="diagram20230948_1*o_h_i*1_2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4"/>
  <p:tag name="KSO_WM_UNIT_ID" val="diagram20230948_1*o_h_i*1_3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4"/>
  <p:tag name="KSO_WM_UNIT_ID" val="diagram20230948_1*o_h_i*1_4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0948_1*o_h_a*1_1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获取"/>
  <p:tag name="KSO_WM_UNIT_FILL_TYPE" val="3"/>
  <p:tag name="KSO_WM_DIAGRAM_USE_COLOR_VALUE" val="{&quot;color_scheme&quot;:1,&quot;color_type&quot;:1,&quot;theme_color_indexes&quot;:[]}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0948_1*o_h_a*1_2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1,&quot;transparency&quot;:0},{&quot;brightness&quot;:0.1599999964237213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激活"/>
  <p:tag name="KSO_WM_UNIT_FILL_TYPE" val="3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0948_1*o_h_a*1_3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,&quot;colorType&quot;:1,&quot;foreColorIndex&quot;:5,&quot;pos&quot;:0.7699999809265137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"/>
  <p:tag name="KSO_WM_UNIT_PRESET_TEXT" val="留存"/>
  <p:tag name="KSO_WM_UNIT_FILL_TYPE" val="3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4_1"/>
  <p:tag name="KSO_WM_UNIT_ID" val="diagram20230948_1*o_h_a*1_4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增加"/>
  <p:tag name="KSO_WM_UNIT_FILL_TYPE" val="3"/>
  <p:tag name="KSO_WM_DIAGRAM_USE_COLOR_VALUE" val="{&quot;color_scheme&quot;:1,&quot;color_type&quot;:1,&quot;theme_color_indexes&quot;:[]}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5_1"/>
  <p:tag name="KSO_WM_UNIT_ID" val="diagram20230948_1*o_h_a*1_5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6000000238418579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传播"/>
  <p:tag name="KSO_WM_UNIT_FILL_TYPE" val="3"/>
  <p:tag name="KSO_WM_DIAGRAM_USE_COLOR_VALUE" val="{&quot;color_scheme&quot;:1,&quot;color_type&quot;:1,&quot;theme_color_indexes&quot;:[]}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4"/>
  <p:tag name="KSO_WM_UNIT_ID" val="diagram20230948_1*o_h_i*1_1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4"/>
  <p:tag name="KSO_WM_UNIT_ID" val="diagram20230948_1*o_h_i*1_2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4"/>
  <p:tag name="KSO_WM_UNIT_ID" val="diagram20230948_1*o_h_i*1_3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4"/>
  <p:tag name="KSO_WM_UNIT_ID" val="diagram20230948_1*o_h_i*1_4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0948_1*o_h_a*1_1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获取"/>
  <p:tag name="KSO_WM_UNIT_FILL_TYPE" val="3"/>
  <p:tag name="KSO_WM_DIAGRAM_USE_COLOR_VALUE" val="{&quot;color_scheme&quot;:1,&quot;color_type&quot;:1,&quot;theme_color_indexes&quot;:[]}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0948_1*o_h_a*1_2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1,&quot;transparency&quot;:0},{&quot;brightness&quot;:0.1599999964237213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激活"/>
  <p:tag name="KSO_WM_UNIT_FILL_TYPE" val="3"/>
  <p:tag name="KSO_WM_DIAGRAM_USE_COLOR_VALUE" val="{&quot;color_scheme&quot;:1,&quot;color_type&quot;:1,&quot;theme_color_indexes&quot;:[]}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0948_1*o_h_a*1_3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,&quot;colorType&quot;:1,&quot;foreColorIndex&quot;:5,&quot;pos&quot;:0.7699999809265137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"/>
  <p:tag name="KSO_WM_UNIT_PRESET_TEXT" val="留存"/>
  <p:tag name="KSO_WM_UNIT_FILL_TYPE" val="3"/>
  <p:tag name="KSO_WM_DIAGRAM_USE_COLOR_VALUE" val="{&quot;color_scheme&quot;:1,&quot;color_type&quot;:1,&quot;theme_color_indexes&quot;:[]}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4_1"/>
  <p:tag name="KSO_WM_UNIT_ID" val="diagram20230948_1*o_h_a*1_4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增加"/>
  <p:tag name="KSO_WM_UNIT_FILL_TYPE" val="3"/>
  <p:tag name="KSO_WM_DIAGRAM_USE_COLOR_VALUE" val="{&quot;color_scheme&quot;:1,&quot;color_type&quot;:1,&quot;theme_color_indexes&quot;:[]}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5_1"/>
  <p:tag name="KSO_WM_UNIT_ID" val="diagram20230948_1*o_h_a*1_5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6000000238418579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传播"/>
  <p:tag name="KSO_WM_UNIT_FILL_TYPE" val="3"/>
  <p:tag name="KSO_WM_DIAGRAM_USE_COLOR_VALUE" val="{&quot;color_scheme&quot;:1,&quot;color_type&quot;:1,&quot;theme_color_indexes&quot;:[]}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4"/>
  <p:tag name="KSO_WM_UNIT_ID" val="diagram20230948_1*o_h_i*1_1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4"/>
  <p:tag name="KSO_WM_UNIT_ID" val="diagram20230948_1*o_h_i*1_2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4"/>
  <p:tag name="KSO_WM_UNIT_ID" val="diagram20230948_1*o_h_i*1_3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4"/>
  <p:tag name="KSO_WM_UNIT_ID" val="diagram20230948_1*o_h_i*1_4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0948_1*o_h_a*1_1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获取"/>
  <p:tag name="KSO_WM_UNIT_FILL_TYPE" val="3"/>
  <p:tag name="KSO_WM_DIAGRAM_USE_COLOR_VALUE" val="{&quot;color_scheme&quot;:1,&quot;color_type&quot;:1,&quot;theme_color_indexes&quot;:[]}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0948_1*o_h_a*1_2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1,&quot;transparency&quot;:0},{&quot;brightness&quot;:0.1599999964237213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激活"/>
  <p:tag name="KSO_WM_UNIT_FILL_TYPE" val="3"/>
  <p:tag name="KSO_WM_DIAGRAM_USE_COLOR_VALUE" val="{&quot;color_scheme&quot;:1,&quot;color_type&quot;:1,&quot;theme_color_indexes&quot;:[]}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0948_1*o_h_a*1_3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,&quot;colorType&quot;:1,&quot;foreColorIndex&quot;:5,&quot;pos&quot;:0.7699999809265137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"/>
  <p:tag name="KSO_WM_UNIT_PRESET_TEXT" val="留存"/>
  <p:tag name="KSO_WM_UNIT_FILL_TYPE" val="3"/>
  <p:tag name="KSO_WM_DIAGRAM_USE_COLOR_VALUE" val="{&quot;color_scheme&quot;:1,&quot;color_type&quot;:1,&quot;theme_color_indexes&quot;:[]}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4_1"/>
  <p:tag name="KSO_WM_UNIT_ID" val="diagram20230948_1*o_h_a*1_4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增加"/>
  <p:tag name="KSO_WM_UNIT_FILL_TYPE" val="3"/>
  <p:tag name="KSO_WM_DIAGRAM_USE_COLOR_VALUE" val="{&quot;color_scheme&quot;:1,&quot;color_type&quot;:1,&quot;theme_color_indexes&quot;:[]}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5_1"/>
  <p:tag name="KSO_WM_UNIT_ID" val="diagram20230948_1*o_h_a*1_5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6000000238418579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传播"/>
  <p:tag name="KSO_WM_UNIT_FILL_TYPE" val="3"/>
  <p:tag name="KSO_WM_DIAGRAM_USE_COLOR_VALUE" val="{&quot;color_scheme&quot;:1,&quot;color_type&quot;:1,&quot;theme_color_indexes&quot;:[]}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4"/>
  <p:tag name="KSO_WM_UNIT_ID" val="diagram20230948_1*o_h_i*1_1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4"/>
  <p:tag name="KSO_WM_UNIT_ID" val="diagram20230948_1*o_h_i*1_2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4"/>
  <p:tag name="KSO_WM_UNIT_ID" val="diagram20230948_1*o_h_i*1_3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4"/>
  <p:tag name="KSO_WM_UNIT_ID" val="diagram20230948_1*o_h_i*1_4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0948_1*o_h_a*1_1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获取"/>
  <p:tag name="KSO_WM_UNIT_FILL_TYPE" val="3"/>
  <p:tag name="KSO_WM_DIAGRAM_USE_COLOR_VALUE" val="{&quot;color_scheme&quot;:1,&quot;color_type&quot;:1,&quot;theme_color_indexes&quot;:[]}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0948_1*o_h_a*1_2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1,&quot;transparency&quot;:0},{&quot;brightness&quot;:0.1599999964237213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激活"/>
  <p:tag name="KSO_WM_UNIT_FILL_TYPE" val="3"/>
  <p:tag name="KSO_WM_DIAGRAM_USE_COLOR_VALUE" val="{&quot;color_scheme&quot;:1,&quot;color_type&quot;:1,&quot;theme_color_indexes&quot;:[]}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0948_1*o_h_a*1_3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,&quot;colorType&quot;:1,&quot;foreColorIndex&quot;:5,&quot;pos&quot;:0.7699999809265137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"/>
  <p:tag name="KSO_WM_UNIT_PRESET_TEXT" val="留存"/>
  <p:tag name="KSO_WM_UNIT_FILL_TYPE" val="3"/>
  <p:tag name="KSO_WM_DIAGRAM_USE_COLOR_VALUE" val="{&quot;color_scheme&quot;:1,&quot;color_type&quot;:1,&quot;theme_color_indexes&quot;:[]}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4_1"/>
  <p:tag name="KSO_WM_UNIT_ID" val="diagram20230948_1*o_h_a*1_4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增加"/>
  <p:tag name="KSO_WM_UNIT_FILL_TYPE" val="3"/>
  <p:tag name="KSO_WM_DIAGRAM_USE_COLOR_VALUE" val="{&quot;color_scheme&quot;:1,&quot;color_type&quot;:1,&quot;theme_color_indexes&quot;:[]}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5_1"/>
  <p:tag name="KSO_WM_UNIT_ID" val="diagram20230948_1*o_h_a*1_5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6000000238418579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传播"/>
  <p:tag name="KSO_WM_UNIT_FILL_TYPE" val="3"/>
  <p:tag name="KSO_WM_DIAGRAM_USE_COLOR_VALUE" val="{&quot;color_scheme&quot;:1,&quot;color_type&quot;:1,&quot;theme_color_indexes&quot;:[]}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DIAGRAM_VIRTUALLY_FRAME" val="{&quot;height&quot;:385.95,&quot;left&quot;:503.1,&quot;top&quot;:105.95,&quot;width&quot;:355.25}"/>
</p:tagLst>
</file>

<file path=ppt/tags/tag146.xml><?xml version="1.0" encoding="utf-8"?>
<p:tagLst xmlns:p="http://schemas.openxmlformats.org/presentationml/2006/main">
  <p:tag name="KSO_WM_DIAGRAM_VIRTUALLY_FRAME" val="{&quot;height&quot;:385.95,&quot;left&quot;:503.1,&quot;top&quot;:105.95,&quot;width&quot;:355.25}"/>
</p:tagLst>
</file>

<file path=ppt/tags/tag147.xml><?xml version="1.0" encoding="utf-8"?>
<p:tagLst xmlns:p="http://schemas.openxmlformats.org/presentationml/2006/main">
  <p:tag name="KSO_WM_DIAGRAM_VIRTUALLY_FRAME" val="{&quot;height&quot;:385.95,&quot;left&quot;:503.1,&quot;top&quot;:105.95,&quot;width&quot;:355.25}"/>
</p:tagLst>
</file>

<file path=ppt/tags/tag148.xml><?xml version="1.0" encoding="utf-8"?>
<p:tagLst xmlns:p="http://schemas.openxmlformats.org/presentationml/2006/main">
  <p:tag name="KSO_WM_DIAGRAM_VIRTUALLY_FRAME" val="{&quot;height&quot;:385.95,&quot;left&quot;:503.1,&quot;top&quot;:105.95,&quot;width&quot;:355.25}"/>
</p:tagLst>
</file>

<file path=ppt/tags/tag149.xml><?xml version="1.0" encoding="utf-8"?>
<p:tagLst xmlns:p="http://schemas.openxmlformats.org/presentationml/2006/main">
  <p:tag name="KSO_WM_DIAGRAM_VIRTUALLY_FRAME" val="{&quot;height&quot;:385.95,&quot;left&quot;:503.1,&quot;top&quot;:105.95,&quot;width&quot;:355.25}"/>
</p:tagLst>
</file>

<file path=ppt/tags/tag150.xml><?xml version="1.0" encoding="utf-8"?>
<p:tagLst xmlns:p="http://schemas.openxmlformats.org/presentationml/2006/main">
  <p:tag name="KSO_WM_DIAGRAM_VIRTUALLY_FRAME" val="{&quot;height&quot;:385.95,&quot;left&quot;:503.1,&quot;top&quot;:105.95,&quot;width&quot;:355.25}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TABLE_ENDDRAG_ORIGIN_RECT" val="496*342"/>
  <p:tag name="TABLE_ENDDRAG_RECT" val="37*136*496*342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4"/>
  <p:tag name="KSO_WM_UNIT_ID" val="diagram20230948_1*o_h_i*1_1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4"/>
  <p:tag name="KSO_WM_UNIT_ID" val="diagram20230948_1*o_h_i*1_2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0948_1*o_h_a*1_1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获取"/>
  <p:tag name="KSO_WM_UNIT_FILL_TYPE" val="3"/>
  <p:tag name="KSO_WM_DIAGRAM_USE_COLOR_VALUE" val="{&quot;color_scheme&quot;:1,&quot;color_type&quot;:1,&quot;theme_color_indexes&quot;:[]}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0948_1*o_h_a*1_2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gradient&quot;:[{&quot;brightness&quot;:-0.25,&quot;colorType&quot;:1,&quot;foreColorIndex&quot;:5,&quot;pos&quot;:1,&quot;transparency&quot;:0},{&quot;brightness&quot;:0.1599999964237213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激活"/>
  <p:tag name="KSO_WM_UNIT_FILL_TYPE" val="3"/>
  <p:tag name="KSO_WM_DIAGRAM_USE_COLOR_VALUE" val="{&quot;color_scheme&quot;:1,&quot;color_type&quot;:1,&quot;theme_color_indexes&quot;:[]}"/>
</p:tagLst>
</file>

<file path=ppt/tags/tag1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0948_1*o_h_a*1_3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40.4416596468227,&quot;left&quot;:46.74330708661417,&quot;top&quot;:129.32503326656314,&quot;width&quot;:743.4566929133858}"/>
  <p:tag name="KSO_WM_DIAGRAM_COLOR_MATCH_VALUE" val="{&quot;shape&quot;:{&quot;fill&quot;:{&quot;gradient&quot;:[{&quot;brightness&quot;:0,&quot;colorType&quot;:1,&quot;foreColorIndex&quot;:5,&quot;pos&quot;:0.7699999809265137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"/>
  <p:tag name="KSO_WM_UNIT_PRESET_TEXT" val="留存"/>
  <p:tag name="KSO_WM_UNIT_FILL_TYPE" val="3"/>
  <p:tag name="KSO_WM_DIAGRAM_USE_COLOR_VALUE" val="{&quot;color_scheme&quot;:1,&quot;color_type&quot;:1,&quot;theme_color_indexes&quot;:[]}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4"/>
  <p:tag name="KSO_WM_UNIT_ID" val="diagram20230948_1*o_h_i*1_1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4"/>
  <p:tag name="KSO_WM_UNIT_ID" val="diagram20230948_1*o_h_i*1_2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0948_1*o_h_a*1_1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获取"/>
  <p:tag name="KSO_WM_UNIT_FILL_TYPE" val="3"/>
  <p:tag name="KSO_WM_DIAGRAM_USE_COLOR_VALUE" val="{&quot;color_scheme&quot;:1,&quot;color_type&quot;:1,&quot;theme_color_indexes&quot;:[]}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0948_1*o_h_a*1_2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gradient&quot;:[{&quot;brightness&quot;:-0.25,&quot;colorType&quot;:1,&quot;foreColorIndex&quot;:5,&quot;pos&quot;:1,&quot;transparency&quot;:0},{&quot;brightness&quot;:0.1599999964237213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激活"/>
  <p:tag name="KSO_WM_UNIT_FILL_TYPE" val="3"/>
  <p:tag name="KSO_WM_DIAGRAM_USE_COLOR_VALUE" val="{&quot;color_scheme&quot;:1,&quot;color_type&quot;:1,&quot;theme_color_indexes&quot;:[]}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0948_1*o_h_a*1_3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6.47417322834646,&quot;top&quot;:128.251968503937,&quot;width&quot;:743.7258267716536}"/>
  <p:tag name="KSO_WM_DIAGRAM_COLOR_MATCH_VALUE" val="{&quot;shape&quot;:{&quot;fill&quot;:{&quot;gradient&quot;:[{&quot;brightness&quot;:0,&quot;colorType&quot;:1,&quot;foreColorIndex&quot;:5,&quot;pos&quot;:0.7699999809265137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"/>
  <p:tag name="KSO_WM_UNIT_PRESET_TEXT" val="留存"/>
  <p:tag name="KSO_WM_UNIT_FILL_TYPE" val="3"/>
  <p:tag name="KSO_WM_DIAGRAM_USE_COLOR_VALUE" val="{&quot;color_scheme&quot;:1,&quot;color_type&quot;:1,&quot;theme_color_indexes&quot;:[]}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4"/>
  <p:tag name="KSO_WM_UNIT_ID" val="diagram20230948_1*o_h_i*1_1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4"/>
  <p:tag name="KSO_WM_UNIT_ID" val="diagram20230948_1*o_h_i*1_2_4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solid&quot;:{&quot;brightness&quot;:0.5299999713897705,&quot;colorType&quot;:1,&quot;foreColorIndex&quot;:5,&quot;transparency&quot;:0.519999980926513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3"/>
  <p:tag name="KSO_WM_DIAGRAM_USE_COLOR_VALUE" val="{&quot;color_scheme&quot;:1,&quot;color_type&quot;:1,&quot;theme_color_indexes&quot;:[]}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0948_1*o_h_a*1_1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获取"/>
  <p:tag name="KSO_WM_UNIT_FILL_TYPE" val="3"/>
  <p:tag name="KSO_WM_DIAGRAM_USE_COLOR_VALUE" val="{&quot;color_scheme&quot;:1,&quot;color_type&quot;:1,&quot;theme_color_indexes&quot;:[]}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0948_1*o_h_a*1_2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-0.25,&quot;colorType&quot;:1,&quot;foreColorIndex&quot;:5,&quot;pos&quot;:1,&quot;transparency&quot;:0},{&quot;brightness&quot;:0.1599999964237213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激活"/>
  <p:tag name="KSO_WM_UNIT_FILL_TYPE" val="3"/>
  <p:tag name="KSO_WM_DIAGRAM_USE_COLOR_VALUE" val="{&quot;color_scheme&quot;:1,&quot;color_type&quot;:1,&quot;theme_color_indexes&quot;:[]}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0948_1*o_h_a*1_3_1"/>
  <p:tag name="KSO_WM_TEMPLATE_CATEGORY" val="diagram"/>
  <p:tag name="KSO_WM_TEMPLATE_INDEX" val="202309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337.376062992126,&quot;left&quot;:49.085984251968505,&quot;top&quot;:128.251968503937,&quot;width&quot;:741.1140157480315}"/>
  <p:tag name="KSO_WM_DIAGRAM_COLOR_MATCH_VALUE" val="{&quot;shape&quot;:{&quot;fill&quot;:{&quot;gradient&quot;:[{&quot;brightness&quot;:0,&quot;colorType&quot;:1,&quot;foreColorIndex&quot;:5,&quot;pos&quot;:0.7699999809265137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"/>
  <p:tag name="KSO_WM_UNIT_PRESET_TEXT" val="留存"/>
  <p:tag name="KSO_WM_UNIT_FILL_TYPE" val="3"/>
  <p:tag name="KSO_WM_DIAGRAM_USE_COLOR_VALUE" val="{&quot;color_scheme&quot;:1,&quot;color_type&quot;:1,&quot;theme_color_indexes&quot;:[]}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COMMONDATA" val="eyJoZGlkIjoiMTVjOGVmNmVhZjU3OWU2YjZlNzc4M2U2YzA0ODc0MzU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4485</Words>
  <Application>WPS 演示</Application>
  <PresentationFormat>宽屏</PresentationFormat>
  <Paragraphs>499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 Light</vt:lpstr>
      <vt:lpstr>Noto Sans SC</vt:lpstr>
      <vt:lpstr>Wingdings</vt:lpstr>
      <vt:lpstr>Arial Unicode MS</vt:lpstr>
      <vt:lpstr>Calibri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红狼</dc:creator>
  <cp:lastModifiedBy>温焱晨</cp:lastModifiedBy>
  <cp:revision>38</cp:revision>
  <dcterms:created xsi:type="dcterms:W3CDTF">2024-04-11T10:10:00Z</dcterms:created>
  <dcterms:modified xsi:type="dcterms:W3CDTF">2026-07-09T08:12:40Z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06B6CC7C0DAD4BAE9782FA0512B704C4_12</vt:lpwstr>
  </property>
</Properties>
</file>